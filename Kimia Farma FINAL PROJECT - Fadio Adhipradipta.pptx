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Roboto Mono" panose="00000009000000000000" pitchFamily="49" charset="0"/>
      <p:regular r:id="rId24"/>
      <p:bold r:id="rId25"/>
      <p:italic r:id="rId26"/>
      <p:boldItalic r:id="rId27"/>
    </p:embeddedFont>
    <p:embeddedFont>
      <p:font typeface="Rubik" panose="020B0604020202020204" charset="-79"/>
      <p:regular r:id="rId28"/>
      <p:bold r:id="rId29"/>
      <p:italic r:id="rId30"/>
      <p:boldItalic r:id="rId31"/>
    </p:embeddedFont>
    <p:embeddedFont>
      <p:font typeface="Rubik Light" panose="020B0604020202020204" charset="-79"/>
      <p:regular r:id="rId32"/>
      <p:bold r:id="rId33"/>
      <p:italic r:id="rId34"/>
      <p:boldItalic r:id="rId35"/>
    </p:embeddedFont>
    <p:embeddedFont>
      <p:font typeface="Rubik Medium" panose="020B0604020202020204" charset="-79"/>
      <p:regular r:id="rId36"/>
      <p:bold r:id="rId37"/>
      <p:italic r:id="rId38"/>
      <p:boldItalic r:id="rId39"/>
    </p:embeddedFont>
    <p:embeddedFont>
      <p:font typeface="Rubik SemiBold" panose="020B0604020202020204" charset="-79"/>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i67aJ0IiSbrVpx/bIrX7Wxgfeb1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F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65ee868302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265ee868302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83dbfc32e9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383dbfc32e9_2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3ec2985a68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23ec2985a68_1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83dbfc32e9_4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383dbfc32e9_4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83dbfc32e9_4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383dbfc32e9_4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83dbfc32e9_4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83dbfc32e9_4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83dbfc32e9_4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83dbfc32e9_4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83dbfc32e9_4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83dbfc32e9_4_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3ec2985a68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23ec2985a68_1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3ec2985a68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23ec2985a68_1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3ec2985a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23ec2985a68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83dbfc32e9_4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g383dbfc32e9_4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83dbfc32e9_4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383dbfc32e9_4_1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83dbfc32e9_4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83dbfc32e9_4_1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83dbfc32e9_4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g383dbfc32e9_4_1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83dbfc32e9_4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383dbfc32e9_4_1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83dbfc32e9_4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383dbfc32e9_4_2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4" name="Google Shape;1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7" name="Google Shape;17;p1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 name="Google Shape;18;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1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1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1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1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1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2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http://linkedin.com/in/fadio-adhipradipta-29b809369/" TargetMode="External"/><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github.com/fadioadhipradipta-gif/KimiaFarma-BigDataAnalytics" TargetMode="External"/><Relationship Id="rId5" Type="http://schemas.openxmlformats.org/officeDocument/2006/relationships/hyperlink" Target="https://youtu.be/dNxLryFDRUQ" TargetMode="Externa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lookerstudio.google.com/s/jParWEfrtfU" TargetMode="External"/><Relationship Id="rId5" Type="http://schemas.openxmlformats.org/officeDocument/2006/relationships/image" Target="../media/image20.jp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9FAB"/>
        </a:solidFill>
        <a:effectLst/>
      </p:bgPr>
    </p:bg>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55" name="Google Shape;55;p1"/>
          <p:cNvPicPr preferRelativeResize="0"/>
          <p:nvPr/>
        </p:nvPicPr>
        <p:blipFill rotWithShape="1">
          <a:blip r:embed="rId4">
            <a:alphaModFix/>
          </a:blip>
          <a:srcRect/>
          <a:stretch/>
        </p:blipFill>
        <p:spPr>
          <a:xfrm>
            <a:off x="349800" y="186500"/>
            <a:ext cx="1399901" cy="541300"/>
          </a:xfrm>
          <a:prstGeom prst="rect">
            <a:avLst/>
          </a:prstGeom>
          <a:noFill/>
          <a:ln>
            <a:noFill/>
          </a:ln>
        </p:spPr>
      </p:pic>
      <p:sp>
        <p:nvSpPr>
          <p:cNvPr id="56" name="Google Shape;56;p1"/>
          <p:cNvSpPr txBox="1"/>
          <p:nvPr/>
        </p:nvSpPr>
        <p:spPr>
          <a:xfrm>
            <a:off x="517900" y="2290525"/>
            <a:ext cx="7472700" cy="8772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en" sz="4500" b="1">
                <a:solidFill>
                  <a:schemeClr val="lt1"/>
                </a:solidFill>
                <a:latin typeface="Rubik"/>
                <a:ea typeface="Rubik"/>
                <a:cs typeface="Rubik"/>
                <a:sym typeface="Rubik"/>
              </a:rPr>
              <a:t>Performance Analytics</a:t>
            </a:r>
            <a:endParaRPr sz="2000" b="0" i="0" u="none" strike="noStrike" cap="none">
              <a:solidFill>
                <a:schemeClr val="lt1"/>
              </a:solidFill>
              <a:latin typeface="Rubik"/>
              <a:ea typeface="Rubik"/>
              <a:cs typeface="Rubik"/>
              <a:sym typeface="Rubik"/>
            </a:endParaRPr>
          </a:p>
        </p:txBody>
      </p:sp>
      <p:sp>
        <p:nvSpPr>
          <p:cNvPr id="57" name="Google Shape;57;p1"/>
          <p:cNvSpPr txBox="1"/>
          <p:nvPr/>
        </p:nvSpPr>
        <p:spPr>
          <a:xfrm>
            <a:off x="517900" y="3130300"/>
            <a:ext cx="7289100" cy="5694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0" i="0" u="none" strike="noStrike" cap="none">
                <a:solidFill>
                  <a:schemeClr val="lt1"/>
                </a:solidFill>
                <a:latin typeface="Rubik SemiBold"/>
                <a:ea typeface="Rubik SemiBold"/>
                <a:cs typeface="Rubik SemiBold"/>
                <a:sym typeface="Rubik SemiBold"/>
              </a:rPr>
              <a:t>Kimia Farma - Big Data Analytics</a:t>
            </a:r>
            <a:endParaRPr sz="2500" b="0" i="0" u="none" strike="noStrike" cap="none">
              <a:solidFill>
                <a:schemeClr val="lt1"/>
              </a:solidFill>
              <a:latin typeface="Rubik SemiBold"/>
              <a:ea typeface="Rubik SemiBold"/>
              <a:cs typeface="Rubik SemiBold"/>
              <a:sym typeface="Rubik SemiBold"/>
            </a:endParaRPr>
          </a:p>
        </p:txBody>
      </p:sp>
      <p:sp>
        <p:nvSpPr>
          <p:cNvPr id="58" name="Google Shape;58;p1"/>
          <p:cNvSpPr/>
          <p:nvPr/>
        </p:nvSpPr>
        <p:spPr>
          <a:xfrm>
            <a:off x="6757125" y="-621925"/>
            <a:ext cx="3135000" cy="3051000"/>
          </a:xfrm>
          <a:prstGeom prst="ellipse">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
          <p:cNvSpPr txBox="1"/>
          <p:nvPr/>
        </p:nvSpPr>
        <p:spPr>
          <a:xfrm>
            <a:off x="1769125" y="172450"/>
            <a:ext cx="457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chemeClr val="lt1"/>
                </a:solidFill>
                <a:latin typeface="Rubik SemiBold"/>
                <a:ea typeface="Rubik SemiBold"/>
                <a:cs typeface="Rubik SemiBold"/>
                <a:sym typeface="Rubik SemiBold"/>
              </a:rPr>
              <a:t>X</a:t>
            </a:r>
            <a:endParaRPr sz="3000" b="0" i="0" u="none" strike="noStrike" cap="none">
              <a:solidFill>
                <a:schemeClr val="lt1"/>
              </a:solidFill>
              <a:latin typeface="Rubik SemiBold"/>
              <a:ea typeface="Rubik SemiBold"/>
              <a:cs typeface="Rubik SemiBold"/>
              <a:sym typeface="Rubik SemiBold"/>
            </a:endParaRPr>
          </a:p>
        </p:txBody>
      </p:sp>
      <p:sp>
        <p:nvSpPr>
          <p:cNvPr id="60" name="Google Shape;60;p1"/>
          <p:cNvSpPr txBox="1"/>
          <p:nvPr/>
        </p:nvSpPr>
        <p:spPr>
          <a:xfrm>
            <a:off x="517900" y="3699700"/>
            <a:ext cx="4392000" cy="9543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lt1"/>
                </a:solidFill>
                <a:latin typeface="Rubik Light"/>
                <a:ea typeface="Rubik Light"/>
                <a:cs typeface="Rubik Light"/>
                <a:sym typeface="Rubik Light"/>
              </a:rPr>
              <a:t>Presented by</a:t>
            </a:r>
            <a:endParaRPr sz="2000" b="0" i="0" u="none" strike="noStrike" cap="none">
              <a:solidFill>
                <a:schemeClr val="lt1"/>
              </a:solidFill>
              <a:latin typeface="Rubik Light"/>
              <a:ea typeface="Rubik Light"/>
              <a:cs typeface="Rubik Light"/>
              <a:sym typeface="Rubik Light"/>
            </a:endParaRPr>
          </a:p>
          <a:p>
            <a:pPr marL="0" marR="0" lvl="0" indent="0" algn="l" rtl="0">
              <a:lnSpc>
                <a:spcPct val="100000"/>
              </a:lnSpc>
              <a:spcBef>
                <a:spcPts val="0"/>
              </a:spcBef>
              <a:spcAft>
                <a:spcPts val="0"/>
              </a:spcAft>
              <a:buClr>
                <a:srgbClr val="000000"/>
              </a:buClr>
              <a:buSzPts val="2000"/>
              <a:buFont typeface="Arial"/>
              <a:buNone/>
            </a:pPr>
            <a:r>
              <a:rPr lang="en" sz="3000">
                <a:solidFill>
                  <a:schemeClr val="lt1"/>
                </a:solidFill>
                <a:latin typeface="Rubik Light"/>
                <a:ea typeface="Rubik Light"/>
                <a:cs typeface="Rubik Light"/>
                <a:sym typeface="Rubik Light"/>
              </a:rPr>
              <a:t>Fadio Adhipradipta</a:t>
            </a:r>
            <a:endParaRPr sz="3000" b="0" i="0" u="none" strike="noStrike" cap="none">
              <a:solidFill>
                <a:schemeClr val="lt1"/>
              </a:solidFill>
              <a:latin typeface="Rubik Light"/>
              <a:ea typeface="Rubik Light"/>
              <a:cs typeface="Rubik Light"/>
              <a:sym typeface="Rubik Light"/>
            </a:endParaRPr>
          </a:p>
        </p:txBody>
      </p:sp>
      <p:pic>
        <p:nvPicPr>
          <p:cNvPr id="61" name="Google Shape;61;p1"/>
          <p:cNvPicPr preferRelativeResize="0"/>
          <p:nvPr/>
        </p:nvPicPr>
        <p:blipFill rotWithShape="1">
          <a:blip r:embed="rId5">
            <a:alphaModFix/>
          </a:blip>
          <a:srcRect/>
          <a:stretch/>
        </p:blipFill>
        <p:spPr>
          <a:xfrm>
            <a:off x="2350825" y="133900"/>
            <a:ext cx="1581660" cy="569400"/>
          </a:xfrm>
          <a:prstGeom prst="rect">
            <a:avLst/>
          </a:prstGeom>
          <a:noFill/>
          <a:ln>
            <a:noFill/>
          </a:ln>
        </p:spPr>
      </p:pic>
      <p:pic>
        <p:nvPicPr>
          <p:cNvPr id="62" name="Google Shape;62;p1"/>
          <p:cNvPicPr preferRelativeResize="0"/>
          <p:nvPr/>
        </p:nvPicPr>
        <p:blipFill rotWithShape="1">
          <a:blip r:embed="rId6">
            <a:alphaModFix/>
          </a:blip>
          <a:srcRect/>
          <a:stretch/>
        </p:blipFill>
        <p:spPr>
          <a:xfrm>
            <a:off x="607425" y="1053851"/>
            <a:ext cx="3662100" cy="13153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0" advTm="62">
        <p:fade/>
      </p:transition>
    </mc:Choice>
    <mc:Fallback xmlns="">
      <p:transition advTm="62">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3"/>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68" name="Google Shape;68;p3"/>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69" name="Google Shape;69;p3"/>
          <p:cNvSpPr/>
          <p:nvPr/>
        </p:nvSpPr>
        <p:spPr>
          <a:xfrm>
            <a:off x="0" y="0"/>
            <a:ext cx="4572000" cy="5143500"/>
          </a:xfrm>
          <a:prstGeom prst="rect">
            <a:avLst/>
          </a:prstGeom>
          <a:solidFill>
            <a:srgbClr val="019FAB">
              <a:alpha val="4745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3"/>
          <p:cNvSpPr txBox="1"/>
          <p:nvPr/>
        </p:nvSpPr>
        <p:spPr>
          <a:xfrm>
            <a:off x="4874641" y="1215650"/>
            <a:ext cx="3901800" cy="569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500">
                <a:latin typeface="Rubik SemiBold"/>
                <a:ea typeface="Rubik SemiBold"/>
                <a:cs typeface="Rubik SemiBold"/>
                <a:sym typeface="Rubik SemiBold"/>
              </a:rPr>
              <a:t>Fadio Adhipradipta</a:t>
            </a:r>
            <a:endParaRPr sz="2500" b="0" i="0" u="none" strike="noStrike" cap="none">
              <a:solidFill>
                <a:srgbClr val="000000"/>
              </a:solidFill>
              <a:latin typeface="Rubik SemiBold"/>
              <a:ea typeface="Rubik SemiBold"/>
              <a:cs typeface="Rubik SemiBold"/>
              <a:sym typeface="Rubik SemiBold"/>
            </a:endParaRPr>
          </a:p>
        </p:txBody>
      </p:sp>
      <p:sp>
        <p:nvSpPr>
          <p:cNvPr id="71" name="Google Shape;71;p3"/>
          <p:cNvSpPr txBox="1"/>
          <p:nvPr/>
        </p:nvSpPr>
        <p:spPr>
          <a:xfrm>
            <a:off x="4859341" y="2053475"/>
            <a:ext cx="4143900" cy="20319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2000"/>
              <a:buFont typeface="Arial"/>
              <a:buNone/>
            </a:pPr>
            <a:r>
              <a:rPr lang="en" sz="1200" dirty="0">
                <a:latin typeface="Rubik"/>
                <a:ea typeface="Rubik"/>
                <a:cs typeface="Rubik"/>
                <a:sym typeface="Rubik"/>
              </a:rPr>
              <a:t>Saya adalah mahasiswa Sistem Informasi yang antusias dengan minat pada ERP consulting dan data analytics. Aktif sebagai mentor akademik, anggota tim promosi, serta peserta kompetisi business case dan UI/UX. Saat ini saya terus mengembangkan keterampilan di bidang enterprise systems dan data-driven decision making untuk mendukung transformasi bisnis di masa depan.</a:t>
            </a:r>
            <a:endParaRPr sz="1200" dirty="0">
              <a:latin typeface="Rubik"/>
              <a:ea typeface="Rubik"/>
              <a:cs typeface="Rubik"/>
              <a:sym typeface="Rubik"/>
            </a:endParaRPr>
          </a:p>
        </p:txBody>
      </p:sp>
      <p:sp>
        <p:nvSpPr>
          <p:cNvPr id="72" name="Google Shape;72;p3"/>
          <p:cNvSpPr txBox="1"/>
          <p:nvPr/>
        </p:nvSpPr>
        <p:spPr>
          <a:xfrm>
            <a:off x="950200" y="3928325"/>
            <a:ext cx="35046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Jakarta, Indonesia</a:t>
            </a:r>
            <a:endParaRPr sz="1200" b="0" i="0" u="none" strike="noStrike" cap="none">
              <a:solidFill>
                <a:srgbClr val="000000"/>
              </a:solidFill>
              <a:latin typeface="Rubik Medium"/>
              <a:ea typeface="Rubik Medium"/>
              <a:cs typeface="Rubik Medium"/>
              <a:sym typeface="Rubik Medium"/>
            </a:endParaRPr>
          </a:p>
        </p:txBody>
      </p:sp>
      <p:pic>
        <p:nvPicPr>
          <p:cNvPr id="73" name="Google Shape;73;p3"/>
          <p:cNvPicPr preferRelativeResize="0"/>
          <p:nvPr/>
        </p:nvPicPr>
        <p:blipFill rotWithShape="1">
          <a:blip r:embed="rId5">
            <a:alphaModFix/>
          </a:blip>
          <a:srcRect/>
          <a:stretch/>
        </p:blipFill>
        <p:spPr>
          <a:xfrm>
            <a:off x="510750" y="4705200"/>
            <a:ext cx="369300" cy="369300"/>
          </a:xfrm>
          <a:prstGeom prst="rect">
            <a:avLst/>
          </a:prstGeom>
          <a:noFill/>
          <a:ln>
            <a:noFill/>
          </a:ln>
        </p:spPr>
      </p:pic>
      <p:pic>
        <p:nvPicPr>
          <p:cNvPr id="74" name="Google Shape;74;p3"/>
          <p:cNvPicPr preferRelativeResize="0"/>
          <p:nvPr/>
        </p:nvPicPr>
        <p:blipFill rotWithShape="1">
          <a:blip r:embed="rId6">
            <a:alphaModFix/>
          </a:blip>
          <a:srcRect/>
          <a:stretch/>
        </p:blipFill>
        <p:spPr>
          <a:xfrm>
            <a:off x="495300" y="3912875"/>
            <a:ext cx="400201" cy="400201"/>
          </a:xfrm>
          <a:prstGeom prst="rect">
            <a:avLst/>
          </a:prstGeom>
          <a:noFill/>
          <a:ln>
            <a:noFill/>
          </a:ln>
        </p:spPr>
      </p:pic>
      <p:pic>
        <p:nvPicPr>
          <p:cNvPr id="75" name="Google Shape;75;p3"/>
          <p:cNvPicPr preferRelativeResize="0"/>
          <p:nvPr/>
        </p:nvPicPr>
        <p:blipFill rotWithShape="1">
          <a:blip r:embed="rId7">
            <a:alphaModFix/>
          </a:blip>
          <a:srcRect/>
          <a:stretch/>
        </p:blipFill>
        <p:spPr>
          <a:xfrm>
            <a:off x="504096" y="4377377"/>
            <a:ext cx="369300" cy="263511"/>
          </a:xfrm>
          <a:prstGeom prst="rect">
            <a:avLst/>
          </a:prstGeom>
          <a:noFill/>
          <a:ln>
            <a:noFill/>
          </a:ln>
        </p:spPr>
      </p:pic>
      <p:sp>
        <p:nvSpPr>
          <p:cNvPr id="76" name="Google Shape;76;p3"/>
          <p:cNvSpPr txBox="1"/>
          <p:nvPr/>
        </p:nvSpPr>
        <p:spPr>
          <a:xfrm>
            <a:off x="950200" y="4728300"/>
            <a:ext cx="36138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 sz="900" u="sng">
                <a:latin typeface="Rubik Medium"/>
                <a:ea typeface="Rubik Medium"/>
                <a:cs typeface="Rubik Medium"/>
                <a:sym typeface="Rubik Medium"/>
                <a:hlinkClick r:id="rId8"/>
              </a:rPr>
              <a:t>in/fadio-adhipradipta</a:t>
            </a:r>
            <a:endParaRPr sz="900" b="0" i="0" u="none" strike="noStrike" cap="none">
              <a:latin typeface="Rubik Medium"/>
              <a:ea typeface="Rubik Medium"/>
              <a:cs typeface="Rubik Medium"/>
              <a:sym typeface="Rubik Medium"/>
            </a:endParaRPr>
          </a:p>
        </p:txBody>
      </p:sp>
      <p:sp>
        <p:nvSpPr>
          <p:cNvPr id="77" name="Google Shape;77;p3"/>
          <p:cNvSpPr txBox="1"/>
          <p:nvPr/>
        </p:nvSpPr>
        <p:spPr>
          <a:xfrm>
            <a:off x="950200" y="4328301"/>
            <a:ext cx="35046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fadioadhipradipta@gmail.com</a:t>
            </a:r>
            <a:endParaRPr sz="1200" b="0" i="0" u="none" strike="noStrike" cap="none">
              <a:solidFill>
                <a:srgbClr val="000000"/>
              </a:solidFill>
              <a:latin typeface="Rubik Medium"/>
              <a:ea typeface="Rubik Medium"/>
              <a:cs typeface="Rubik Medium"/>
              <a:sym typeface="Rubik Medium"/>
            </a:endParaRPr>
          </a:p>
        </p:txBody>
      </p:sp>
      <p:pic>
        <p:nvPicPr>
          <p:cNvPr id="78" name="Google Shape;78;p3" title="WhatsApp Image 2025-09-18 at 10.22.21.jpeg"/>
          <p:cNvPicPr preferRelativeResize="0"/>
          <p:nvPr/>
        </p:nvPicPr>
        <p:blipFill rotWithShape="1">
          <a:blip r:embed="rId9">
            <a:alphaModFix/>
          </a:blip>
          <a:srcRect l="7726" t="27374" r="6036" b="3550"/>
          <a:stretch/>
        </p:blipFill>
        <p:spPr>
          <a:xfrm>
            <a:off x="652775" y="508925"/>
            <a:ext cx="3020400" cy="3225900"/>
          </a:xfrm>
          <a:prstGeom prst="roundRect">
            <a:avLst>
              <a:gd name="adj" fmla="val 16667"/>
            </a:avLst>
          </a:prstGeom>
          <a:noFill/>
          <a:ln>
            <a:noFill/>
          </a:ln>
        </p:spPr>
      </p:pic>
      <p:sp>
        <p:nvSpPr>
          <p:cNvPr id="79" name="Google Shape;79;p3"/>
          <p:cNvSpPr txBox="1"/>
          <p:nvPr/>
        </p:nvSpPr>
        <p:spPr>
          <a:xfrm>
            <a:off x="4753591" y="1643125"/>
            <a:ext cx="4355400" cy="461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1800" dirty="0">
                <a:solidFill>
                  <a:srgbClr val="019FAB"/>
                </a:solidFill>
                <a:latin typeface="Rubik SemiBold"/>
                <a:ea typeface="Rubik SemiBold"/>
                <a:cs typeface="Rubik SemiBold"/>
                <a:sym typeface="Rubik SemiBold"/>
              </a:rPr>
              <a:t>Undergraduate Information System</a:t>
            </a:r>
            <a:endParaRPr sz="1800" i="0" u="none" strike="noStrike" cap="none" dirty="0">
              <a:solidFill>
                <a:srgbClr val="019FAB"/>
              </a:solidFill>
              <a:latin typeface="Rubik SemiBold"/>
              <a:ea typeface="Rubik SemiBold"/>
              <a:cs typeface="Rubik SemiBold"/>
              <a:sym typeface="Rubik SemiBold"/>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4"/>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85" name="Google Shape;85;p4"/>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86" name="Google Shape;86;p4"/>
          <p:cNvSpPr txBox="1"/>
          <p:nvPr/>
        </p:nvSpPr>
        <p:spPr>
          <a:xfrm>
            <a:off x="442725" y="1447100"/>
            <a:ext cx="5031000" cy="3130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Rubik"/>
                <a:ea typeface="Rubik"/>
                <a:cs typeface="Rubik"/>
                <a:sym typeface="Rubik"/>
              </a:rPr>
              <a:t>Kimia Farma adalah perusahaan farmasi tertua di Indonesia yang berdiri sejak tahun 1817. Awalnya bernama </a:t>
            </a:r>
            <a:r>
              <a:rPr lang="en" sz="1200" i="1">
                <a:solidFill>
                  <a:schemeClr val="dk1"/>
                </a:solidFill>
                <a:latin typeface="Rubik"/>
                <a:ea typeface="Rubik"/>
                <a:cs typeface="Rubik"/>
                <a:sym typeface="Rubik"/>
              </a:rPr>
              <a:t>NV Chemicalien Handle Rathkamp &amp; Co.</a:t>
            </a:r>
            <a:r>
              <a:rPr lang="en" sz="1200">
                <a:solidFill>
                  <a:schemeClr val="dk1"/>
                </a:solidFill>
                <a:latin typeface="Rubik"/>
                <a:ea typeface="Rubik"/>
                <a:cs typeface="Rubik"/>
                <a:sym typeface="Rubik"/>
              </a:rPr>
              <a:t>, perusahaan ini kemudian dinasionalisasi dan berkembang menjadi PT Kimia Farma Tbk yang kita kenal sekarang. Sebagai bagian dari Holding BUMN Farmasi bersama Bio Farma, Kimia Farma memiliki bisnis yang terintegrasi mulai dari produksi obat, distribusi, hingga layanan kesehatan. </a:t>
            </a:r>
            <a:endParaRPr sz="1200">
              <a:solidFill>
                <a:schemeClr val="dk1"/>
              </a:solidFill>
              <a:latin typeface="Rubik"/>
              <a:ea typeface="Rubik"/>
              <a:cs typeface="Rubik"/>
              <a:sym typeface="Rubik"/>
            </a:endParaRPr>
          </a:p>
          <a:p>
            <a:pPr marL="0" marR="0" lvl="0" indent="0" algn="just" rtl="0">
              <a:lnSpc>
                <a:spcPct val="115000"/>
              </a:lnSpc>
              <a:spcBef>
                <a:spcPts val="0"/>
              </a:spcBef>
              <a:spcAft>
                <a:spcPts val="0"/>
              </a:spcAft>
              <a:buClr>
                <a:schemeClr val="dk1"/>
              </a:buClr>
              <a:buSzPts val="1100"/>
              <a:buFont typeface="Arial"/>
              <a:buNone/>
            </a:pPr>
            <a:endParaRPr sz="1200">
              <a:solidFill>
                <a:schemeClr val="dk1"/>
              </a:solidFill>
              <a:latin typeface="Rubik"/>
              <a:ea typeface="Rubik"/>
              <a:cs typeface="Rubik"/>
              <a:sym typeface="Rubik"/>
            </a:endParaRPr>
          </a:p>
          <a:p>
            <a:pPr marL="0" marR="0" lvl="0" indent="0" algn="just" rtl="0">
              <a:lnSpc>
                <a:spcPct val="115000"/>
              </a:lnSpc>
              <a:spcBef>
                <a:spcPts val="0"/>
              </a:spcBef>
              <a:spcAft>
                <a:spcPts val="0"/>
              </a:spcAft>
              <a:buClr>
                <a:schemeClr val="dk1"/>
              </a:buClr>
              <a:buSzPts val="1100"/>
              <a:buFont typeface="Arial"/>
              <a:buNone/>
            </a:pPr>
            <a:r>
              <a:rPr lang="en" sz="1200">
                <a:solidFill>
                  <a:schemeClr val="dk1"/>
                </a:solidFill>
                <a:latin typeface="Rubik"/>
                <a:ea typeface="Rubik"/>
                <a:cs typeface="Rubik"/>
                <a:sym typeface="Rubik"/>
              </a:rPr>
              <a:t>Saat ini Kimia Farma mengoperasikan pabrik </a:t>
            </a:r>
            <a:r>
              <a:rPr lang="en" sz="1200" b="1">
                <a:solidFill>
                  <a:schemeClr val="dk1"/>
                </a:solidFill>
                <a:latin typeface="Rubik"/>
                <a:ea typeface="Rubik"/>
                <a:cs typeface="Rubik"/>
                <a:sym typeface="Rubik"/>
              </a:rPr>
              <a:t>obat</a:t>
            </a:r>
            <a:r>
              <a:rPr lang="en" sz="1200">
                <a:solidFill>
                  <a:schemeClr val="dk1"/>
                </a:solidFill>
                <a:latin typeface="Rubik"/>
                <a:ea typeface="Rubik"/>
                <a:cs typeface="Rubik"/>
                <a:sym typeface="Rubik"/>
              </a:rPr>
              <a:t>, ribuan </a:t>
            </a:r>
            <a:r>
              <a:rPr lang="en" sz="1200" b="1">
                <a:solidFill>
                  <a:schemeClr val="dk1"/>
                </a:solidFill>
                <a:latin typeface="Rubik"/>
                <a:ea typeface="Rubik"/>
                <a:cs typeface="Rubik"/>
                <a:sym typeface="Rubik"/>
              </a:rPr>
              <a:t>apotek</a:t>
            </a:r>
            <a:r>
              <a:rPr lang="en" sz="1200">
                <a:solidFill>
                  <a:schemeClr val="dk1"/>
                </a:solidFill>
                <a:latin typeface="Rubik"/>
                <a:ea typeface="Rubik"/>
                <a:cs typeface="Rubik"/>
                <a:sym typeface="Rubik"/>
              </a:rPr>
              <a:t>, ratusan </a:t>
            </a:r>
            <a:r>
              <a:rPr lang="en" sz="1200" b="1">
                <a:solidFill>
                  <a:schemeClr val="dk1"/>
                </a:solidFill>
                <a:latin typeface="Rubik"/>
                <a:ea typeface="Rubik"/>
                <a:cs typeface="Rubik"/>
                <a:sym typeface="Rubik"/>
              </a:rPr>
              <a:t>klinik</a:t>
            </a:r>
            <a:r>
              <a:rPr lang="en" sz="1200">
                <a:solidFill>
                  <a:schemeClr val="dk1"/>
                </a:solidFill>
                <a:latin typeface="Rubik"/>
                <a:ea typeface="Rubik"/>
                <a:cs typeface="Rubik"/>
                <a:sym typeface="Rubik"/>
              </a:rPr>
              <a:t>, serta </a:t>
            </a:r>
            <a:r>
              <a:rPr lang="en" sz="1200" b="1">
                <a:solidFill>
                  <a:schemeClr val="dk1"/>
                </a:solidFill>
                <a:latin typeface="Rubik"/>
                <a:ea typeface="Rubik"/>
                <a:cs typeface="Rubik"/>
                <a:sym typeface="Rubik"/>
              </a:rPr>
              <a:t>laboratorium </a:t>
            </a:r>
            <a:r>
              <a:rPr lang="en" sz="1200">
                <a:solidFill>
                  <a:schemeClr val="dk1"/>
                </a:solidFill>
                <a:latin typeface="Rubik"/>
                <a:ea typeface="Rubik"/>
                <a:cs typeface="Rubik"/>
                <a:sym typeface="Rubik"/>
              </a:rPr>
              <a:t>yang tersebar di seluruh Indonesia. Dengan portofolio produk yang mencakup obat resep, generik, herbal, hingga alat kesehatan, Kimia Farma berkomitmen menyediakan solusi kesehatan yang mudah diakses dan terjangkau untuk meningkatkan kualitas hidup masyarakat.</a:t>
            </a:r>
            <a:endParaRPr sz="1200" i="0" u="none" strike="noStrike" cap="none">
              <a:solidFill>
                <a:srgbClr val="000000"/>
              </a:solidFill>
              <a:latin typeface="Rubik"/>
              <a:ea typeface="Rubik"/>
              <a:cs typeface="Rubik"/>
              <a:sym typeface="Rubik"/>
            </a:endParaRPr>
          </a:p>
        </p:txBody>
      </p:sp>
      <p:sp>
        <p:nvSpPr>
          <p:cNvPr id="87" name="Google Shape;87;p4"/>
          <p:cNvSpPr txBox="1"/>
          <p:nvPr/>
        </p:nvSpPr>
        <p:spPr>
          <a:xfrm>
            <a:off x="340500" y="452038"/>
            <a:ext cx="8463000" cy="646500"/>
          </a:xfrm>
          <a:prstGeom prst="rect">
            <a:avLst/>
          </a:prstGeom>
          <a:noFill/>
          <a:ln>
            <a:noFill/>
          </a:ln>
          <a:effectLst>
            <a:outerShdw blurRad="57150" dist="19050" dir="2820000" algn="bl" rotWithShape="0">
              <a:srgbClr val="B7B7B7">
                <a:alpha val="85098"/>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 sz="3000" b="1" i="0" u="none" strike="noStrike" cap="none">
                <a:solidFill>
                  <a:srgbClr val="000000"/>
                </a:solidFill>
                <a:latin typeface="Rubik"/>
                <a:ea typeface="Rubik"/>
                <a:cs typeface="Rubik"/>
                <a:sym typeface="Rubik"/>
              </a:rPr>
              <a:t>About </a:t>
            </a:r>
            <a:r>
              <a:rPr lang="en" sz="3000" b="1" i="0" u="none" strike="noStrike" cap="none">
                <a:solidFill>
                  <a:schemeClr val="accent5"/>
                </a:solidFill>
                <a:latin typeface="Rubik"/>
                <a:ea typeface="Rubik"/>
                <a:cs typeface="Rubik"/>
                <a:sym typeface="Rubik"/>
              </a:rPr>
              <a:t>Company</a:t>
            </a:r>
            <a:endParaRPr sz="3000" b="1" i="0" u="none" strike="noStrike" cap="none">
              <a:solidFill>
                <a:schemeClr val="accent5"/>
              </a:solidFill>
              <a:latin typeface="Rubik"/>
              <a:ea typeface="Rubik"/>
              <a:cs typeface="Rubik"/>
              <a:sym typeface="Rubik"/>
            </a:endParaRPr>
          </a:p>
        </p:txBody>
      </p:sp>
      <p:pic>
        <p:nvPicPr>
          <p:cNvPr id="88" name="Google Shape;88;p4"/>
          <p:cNvPicPr preferRelativeResize="0"/>
          <p:nvPr/>
        </p:nvPicPr>
        <p:blipFill rotWithShape="1">
          <a:blip r:embed="rId5">
            <a:alphaModFix/>
          </a:blip>
          <a:srcRect/>
          <a:stretch/>
        </p:blipFill>
        <p:spPr>
          <a:xfrm>
            <a:off x="5577075" y="2170019"/>
            <a:ext cx="3226425" cy="11587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g265ee868302_0_9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94" name="Google Shape;94;g265ee868302_0_9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95" name="Google Shape;95;g265ee868302_0_99"/>
          <p:cNvSpPr txBox="1"/>
          <p:nvPr/>
        </p:nvSpPr>
        <p:spPr>
          <a:xfrm>
            <a:off x="383550" y="1252450"/>
            <a:ext cx="8376900" cy="1754700"/>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100"/>
              <a:buFont typeface="Arial"/>
              <a:buNone/>
            </a:pPr>
            <a:r>
              <a:rPr lang="en" sz="1200">
                <a:latin typeface="Rubik"/>
                <a:ea typeface="Rubik"/>
                <a:cs typeface="Rubik"/>
                <a:sym typeface="Rubik"/>
              </a:rPr>
              <a:t>Pada periode 2020-2023, Kimia Farma menghadapi tantangan besar akibat pandemi COVID-19. Pendapatan menurun pada 2020-2021 dan kembali menurun pada 2022-2023. Namun pada masa pemulihan 2021-2022, perusahaan sempat berhasil meningkatkan pendapatan. Ekspansi jaringan apotek, diversifikasi produk, serta investasi digital seperti aplikasi kesehatan dan layanan online menjadi pendorong utama pertumbuhan. Meski demikian, profitabilitas masih terkendala oleh kenaikan biaya operasional, inflasi bahan baku, persaingan ketat, dan perubahan regulasi.</a:t>
            </a:r>
            <a:endParaRPr sz="1200" i="0" u="none" strike="noStrike" cap="none">
              <a:solidFill>
                <a:srgbClr val="000000"/>
              </a:solidFill>
              <a:latin typeface="Rubik"/>
              <a:ea typeface="Rubik"/>
              <a:cs typeface="Rubik"/>
              <a:sym typeface="Rubik"/>
            </a:endParaRPr>
          </a:p>
        </p:txBody>
      </p:sp>
      <p:sp>
        <p:nvSpPr>
          <p:cNvPr id="96" name="Google Shape;96;g265ee868302_0_99"/>
          <p:cNvSpPr txBox="1"/>
          <p:nvPr/>
        </p:nvSpPr>
        <p:spPr>
          <a:xfrm>
            <a:off x="340500" y="452038"/>
            <a:ext cx="8463000" cy="646500"/>
          </a:xfrm>
          <a:prstGeom prst="rect">
            <a:avLst/>
          </a:prstGeom>
          <a:noFill/>
          <a:ln>
            <a:noFill/>
          </a:ln>
          <a:effectLst>
            <a:outerShdw blurRad="57150" dist="19050" dir="2820000" algn="bl" rotWithShape="0">
              <a:srgbClr val="B7B7B7">
                <a:alpha val="85098"/>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 sz="3000" b="1" i="0" u="none" strike="noStrike" cap="none">
                <a:solidFill>
                  <a:srgbClr val="000000"/>
                </a:solidFill>
                <a:latin typeface="Rubik"/>
                <a:ea typeface="Rubik"/>
                <a:cs typeface="Rubik"/>
                <a:sym typeface="Rubik"/>
              </a:rPr>
              <a:t>Project </a:t>
            </a:r>
            <a:r>
              <a:rPr lang="en" sz="3000" b="1" i="0" u="none" strike="noStrike" cap="none">
                <a:solidFill>
                  <a:schemeClr val="accent5"/>
                </a:solidFill>
                <a:latin typeface="Rubik"/>
                <a:ea typeface="Rubik"/>
                <a:cs typeface="Rubik"/>
                <a:sym typeface="Rubik"/>
              </a:rPr>
              <a:t>Portfolio</a:t>
            </a:r>
            <a:endParaRPr sz="3000" b="1" i="0" u="none" strike="noStrike" cap="none">
              <a:solidFill>
                <a:schemeClr val="accent5"/>
              </a:solidFill>
              <a:latin typeface="Rubik"/>
              <a:ea typeface="Rubik"/>
              <a:cs typeface="Rubik"/>
              <a:sym typeface="Rubik"/>
            </a:endParaRPr>
          </a:p>
        </p:txBody>
      </p:sp>
      <p:sp>
        <p:nvSpPr>
          <p:cNvPr id="97" name="Google Shape;97;g265ee868302_0_99"/>
          <p:cNvSpPr txBox="1"/>
          <p:nvPr/>
        </p:nvSpPr>
        <p:spPr>
          <a:xfrm>
            <a:off x="6054900" y="4058325"/>
            <a:ext cx="3089100" cy="338700"/>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100"/>
              <a:buFont typeface="Arial"/>
              <a:buNone/>
            </a:pPr>
            <a:endParaRPr sz="1000" b="1" i="1" u="none" strike="noStrike" cap="none">
              <a:solidFill>
                <a:srgbClr val="000000"/>
              </a:solidFill>
              <a:latin typeface="Rubik"/>
              <a:ea typeface="Rubik"/>
              <a:cs typeface="Rubik"/>
              <a:sym typeface="Rubik"/>
            </a:endParaRPr>
          </a:p>
        </p:txBody>
      </p:sp>
      <p:sp>
        <p:nvSpPr>
          <p:cNvPr id="98" name="Google Shape;98;g265ee868302_0_99"/>
          <p:cNvSpPr txBox="1"/>
          <p:nvPr/>
        </p:nvSpPr>
        <p:spPr>
          <a:xfrm>
            <a:off x="383550" y="3007150"/>
            <a:ext cx="2165400" cy="4926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000"/>
              <a:buFont typeface="Arial"/>
              <a:buNone/>
            </a:pPr>
            <a:r>
              <a:rPr lang="en" sz="2000" b="1">
                <a:solidFill>
                  <a:srgbClr val="019FAB"/>
                </a:solidFill>
                <a:latin typeface="Rubik"/>
                <a:ea typeface="Rubik"/>
                <a:cs typeface="Rubik"/>
                <a:sym typeface="Rubik"/>
              </a:rPr>
              <a:t>Dataset :</a:t>
            </a:r>
            <a:endParaRPr sz="2000" b="1" i="0" u="none" strike="noStrike" cap="none">
              <a:solidFill>
                <a:srgbClr val="019FAB"/>
              </a:solidFill>
              <a:latin typeface="Rubik"/>
              <a:ea typeface="Rubik"/>
              <a:cs typeface="Rubik"/>
              <a:sym typeface="Rubik"/>
            </a:endParaRPr>
          </a:p>
        </p:txBody>
      </p:sp>
      <p:sp>
        <p:nvSpPr>
          <p:cNvPr id="99" name="Google Shape;99;g265ee868302_0_99"/>
          <p:cNvSpPr txBox="1"/>
          <p:nvPr/>
        </p:nvSpPr>
        <p:spPr>
          <a:xfrm>
            <a:off x="383550" y="3432750"/>
            <a:ext cx="6033900" cy="1200600"/>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100"/>
              <a:buFont typeface="Arial"/>
              <a:buNone/>
            </a:pPr>
            <a:r>
              <a:rPr lang="en" sz="1200" b="1">
                <a:latin typeface="Rubik"/>
                <a:ea typeface="Rubik"/>
                <a:cs typeface="Rubik"/>
                <a:sym typeface="Rubik"/>
              </a:rPr>
              <a:t>kf_final_transaction :</a:t>
            </a:r>
            <a:r>
              <a:rPr lang="en" sz="1200">
                <a:latin typeface="Rubik"/>
                <a:ea typeface="Rubik"/>
                <a:cs typeface="Rubik"/>
                <a:sym typeface="Rubik"/>
              </a:rPr>
              <a:t> Merupakan dataset yang berisi data transaksi pelanggan. </a:t>
            </a:r>
            <a:endParaRPr sz="1200">
              <a:latin typeface="Rubik"/>
              <a:ea typeface="Rubik"/>
              <a:cs typeface="Rubik"/>
              <a:sym typeface="Rubik"/>
            </a:endParaRPr>
          </a:p>
          <a:p>
            <a:pPr marL="0" marR="0" lvl="0" indent="0" algn="just" rtl="0">
              <a:lnSpc>
                <a:spcPct val="150000"/>
              </a:lnSpc>
              <a:spcBef>
                <a:spcPts val="0"/>
              </a:spcBef>
              <a:spcAft>
                <a:spcPts val="0"/>
              </a:spcAft>
              <a:buClr>
                <a:schemeClr val="dk1"/>
              </a:buClr>
              <a:buSzPts val="1100"/>
              <a:buFont typeface="Arial"/>
              <a:buNone/>
            </a:pPr>
            <a:r>
              <a:rPr lang="en" sz="1200" b="1">
                <a:latin typeface="Rubik"/>
                <a:ea typeface="Rubik"/>
                <a:cs typeface="Rubik"/>
                <a:sym typeface="Rubik"/>
              </a:rPr>
              <a:t>kf_inventori :</a:t>
            </a:r>
            <a:r>
              <a:rPr lang="en" sz="1200">
                <a:latin typeface="Rubik"/>
                <a:ea typeface="Rubik"/>
                <a:cs typeface="Rubik"/>
                <a:sym typeface="Rubik"/>
              </a:rPr>
              <a:t> Merupakan dataset yang berisi data ketersediaan stok obat. </a:t>
            </a:r>
            <a:endParaRPr sz="1200">
              <a:latin typeface="Rubik"/>
              <a:ea typeface="Rubik"/>
              <a:cs typeface="Rubik"/>
              <a:sym typeface="Rubik"/>
            </a:endParaRPr>
          </a:p>
          <a:p>
            <a:pPr marL="0" marR="0" lvl="0" indent="0" algn="just" rtl="0">
              <a:lnSpc>
                <a:spcPct val="150000"/>
              </a:lnSpc>
              <a:spcBef>
                <a:spcPts val="0"/>
              </a:spcBef>
              <a:spcAft>
                <a:spcPts val="0"/>
              </a:spcAft>
              <a:buClr>
                <a:schemeClr val="dk1"/>
              </a:buClr>
              <a:buSzPts val="1100"/>
              <a:buFont typeface="Arial"/>
              <a:buNone/>
            </a:pPr>
            <a:r>
              <a:rPr lang="en" sz="1200" b="1">
                <a:latin typeface="Rubik"/>
                <a:ea typeface="Rubik"/>
                <a:cs typeface="Rubik"/>
                <a:sym typeface="Rubik"/>
              </a:rPr>
              <a:t>kf_kantor_cabang :</a:t>
            </a:r>
            <a:r>
              <a:rPr lang="en" sz="1200">
                <a:latin typeface="Rubik"/>
                <a:ea typeface="Rubik"/>
                <a:cs typeface="Rubik"/>
                <a:sym typeface="Rubik"/>
              </a:rPr>
              <a:t> Merupakan dataset yang berisi data ketersediaan stok obat. </a:t>
            </a:r>
            <a:endParaRPr sz="1200">
              <a:latin typeface="Rubik"/>
              <a:ea typeface="Rubik"/>
              <a:cs typeface="Rubik"/>
              <a:sym typeface="Rubik"/>
            </a:endParaRPr>
          </a:p>
          <a:p>
            <a:pPr marL="0" marR="0" lvl="0" indent="0" algn="just" rtl="0">
              <a:lnSpc>
                <a:spcPct val="150000"/>
              </a:lnSpc>
              <a:spcBef>
                <a:spcPts val="0"/>
              </a:spcBef>
              <a:spcAft>
                <a:spcPts val="0"/>
              </a:spcAft>
              <a:buClr>
                <a:schemeClr val="dk1"/>
              </a:buClr>
              <a:buSzPts val="1100"/>
              <a:buFont typeface="Arial"/>
              <a:buNone/>
            </a:pPr>
            <a:r>
              <a:rPr lang="en" sz="1200" b="1">
                <a:latin typeface="Rubik"/>
                <a:ea typeface="Rubik"/>
                <a:cs typeface="Rubik"/>
                <a:sym typeface="Rubik"/>
              </a:rPr>
              <a:t>kf_product :</a:t>
            </a:r>
            <a:r>
              <a:rPr lang="en" sz="1200">
                <a:latin typeface="Rubik"/>
                <a:ea typeface="Rubik"/>
                <a:cs typeface="Rubik"/>
                <a:sym typeface="Rubik"/>
              </a:rPr>
              <a:t> Merupakan dataset yang berisi data harga suatu produk.</a:t>
            </a:r>
            <a:endParaRPr sz="1200" i="0" u="none" strike="noStrike" cap="none">
              <a:solidFill>
                <a:srgbClr val="000000"/>
              </a:solidFill>
              <a:latin typeface="Rubik"/>
              <a:ea typeface="Rubik"/>
              <a:cs typeface="Rubik"/>
              <a:sym typeface="Rubik"/>
            </a:endParaRPr>
          </a:p>
        </p:txBody>
      </p:sp>
      <p:sp>
        <p:nvSpPr>
          <p:cNvPr id="100" name="Google Shape;100;g265ee868302_0_99"/>
          <p:cNvSpPr txBox="1"/>
          <p:nvPr/>
        </p:nvSpPr>
        <p:spPr>
          <a:xfrm>
            <a:off x="5782792" y="4397025"/>
            <a:ext cx="3779308" cy="738633"/>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100"/>
              <a:buFont typeface="Arial"/>
              <a:buNone/>
            </a:pPr>
            <a:r>
              <a:rPr lang="en" sz="1200" b="1" i="0" strike="noStrike" cap="none" dirty="0">
                <a:solidFill>
                  <a:srgbClr val="FF0000"/>
                </a:solidFill>
                <a:latin typeface="Rubik"/>
                <a:ea typeface="Rubik"/>
                <a:cs typeface="Rubik"/>
                <a:sym typeface="Rubik"/>
                <a:hlinkClick r:id="rId5">
                  <a:extLst>
                    <a:ext uri="{A12FA001-AC4F-418D-AE19-62706E023703}">
                      <ahyp:hlinkClr xmlns:ahyp="http://schemas.microsoft.com/office/drawing/2018/hyperlinkcolor" val="tx"/>
                    </a:ext>
                  </a:extLst>
                </a:hlinkClick>
              </a:rPr>
              <a:t>Project explanation video here !</a:t>
            </a:r>
            <a:r>
              <a:rPr lang="en" sz="1200" b="1" i="0" strike="noStrike" cap="none" dirty="0">
                <a:solidFill>
                  <a:srgbClr val="FF0000"/>
                </a:solidFill>
                <a:latin typeface="Rubik"/>
                <a:ea typeface="Rubik"/>
                <a:cs typeface="Rubik"/>
                <a:sym typeface="Rubik"/>
              </a:rPr>
              <a:t> (Youtube)</a:t>
            </a:r>
            <a:endParaRPr sz="1200" b="1" i="0" strike="noStrike" cap="none" dirty="0">
              <a:solidFill>
                <a:srgbClr val="FF0000"/>
              </a:solidFill>
              <a:latin typeface="Rubik"/>
              <a:ea typeface="Rubik"/>
              <a:cs typeface="Rubik"/>
              <a:sym typeface="Rubik"/>
            </a:endParaRPr>
          </a:p>
          <a:p>
            <a:pPr marL="0" lvl="0" indent="0" algn="just" rtl="0">
              <a:lnSpc>
                <a:spcPct val="150000"/>
              </a:lnSpc>
              <a:spcBef>
                <a:spcPts val="0"/>
              </a:spcBef>
              <a:spcAft>
                <a:spcPts val="0"/>
              </a:spcAft>
              <a:buClr>
                <a:schemeClr val="dk1"/>
              </a:buClr>
              <a:buSzPts val="1100"/>
              <a:buFont typeface="Arial"/>
              <a:buNone/>
            </a:pPr>
            <a:r>
              <a:rPr lang="en" sz="1200" b="1" u="sng" dirty="0">
                <a:solidFill>
                  <a:schemeClr val="tx1"/>
                </a:solidFill>
                <a:latin typeface="Rubik"/>
                <a:ea typeface="Rubik"/>
                <a:cs typeface="Rubik"/>
                <a:sym typeface="Rubik"/>
                <a:hlinkClick r:id="rId6">
                  <a:extLst>
                    <a:ext uri="{A12FA001-AC4F-418D-AE19-62706E023703}">
                      <ahyp:hlinkClr xmlns:ahyp="http://schemas.microsoft.com/office/drawing/2018/hyperlinkcolor" val="tx"/>
                    </a:ext>
                  </a:extLst>
                </a:hlinkClick>
              </a:rPr>
              <a:t>Project repository here!</a:t>
            </a:r>
            <a:r>
              <a:rPr lang="en" sz="1200" b="1" u="sng" dirty="0">
                <a:solidFill>
                  <a:schemeClr val="tx1"/>
                </a:solidFill>
                <a:latin typeface="Rubik"/>
                <a:ea typeface="Rubik"/>
                <a:cs typeface="Rubik"/>
                <a:sym typeface="Rubik"/>
              </a:rPr>
              <a:t> (GitHub)</a:t>
            </a:r>
            <a:endParaRPr sz="1200" b="1" u="sng" dirty="0">
              <a:solidFill>
                <a:schemeClr val="tx1"/>
              </a:solidFill>
              <a:latin typeface="Rubik"/>
              <a:ea typeface="Rubik"/>
              <a:cs typeface="Rubik"/>
              <a:sym typeface="Rubik"/>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83dbfc32e9_2_1"/>
          <p:cNvSpPr/>
          <p:nvPr/>
        </p:nvSpPr>
        <p:spPr>
          <a:xfrm>
            <a:off x="1502775" y="1847150"/>
            <a:ext cx="228000" cy="212400"/>
          </a:xfrm>
          <a:prstGeom prst="hexagon">
            <a:avLst>
              <a:gd name="adj" fmla="val 28852"/>
              <a:gd name="vf" fmla="val 115470"/>
            </a:avLst>
          </a:prstGeom>
          <a:solidFill>
            <a:srgbClr val="46D0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 name="Google Shape;106;g383dbfc32e9_2_1"/>
          <p:cNvSpPr/>
          <p:nvPr/>
        </p:nvSpPr>
        <p:spPr>
          <a:xfrm>
            <a:off x="1502775" y="2125275"/>
            <a:ext cx="228000" cy="212400"/>
          </a:xfrm>
          <a:prstGeom prst="hexagon">
            <a:avLst>
              <a:gd name="adj" fmla="val 28852"/>
              <a:gd name="vf" fmla="val 115470"/>
            </a:avLst>
          </a:prstGeom>
          <a:solidFill>
            <a:srgbClr val="46D0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 name="Google Shape;107;g383dbfc32e9_2_1"/>
          <p:cNvSpPr/>
          <p:nvPr/>
        </p:nvSpPr>
        <p:spPr>
          <a:xfrm>
            <a:off x="1502775" y="2391975"/>
            <a:ext cx="228000" cy="212400"/>
          </a:xfrm>
          <a:prstGeom prst="hexagon">
            <a:avLst>
              <a:gd name="adj" fmla="val 28852"/>
              <a:gd name="vf" fmla="val 115470"/>
            </a:avLst>
          </a:prstGeom>
          <a:solidFill>
            <a:srgbClr val="46D0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 name="Google Shape;108;g383dbfc32e9_2_1"/>
          <p:cNvSpPr/>
          <p:nvPr/>
        </p:nvSpPr>
        <p:spPr>
          <a:xfrm>
            <a:off x="1502775" y="2658675"/>
            <a:ext cx="228000" cy="212400"/>
          </a:xfrm>
          <a:prstGeom prst="hexagon">
            <a:avLst>
              <a:gd name="adj" fmla="val 28852"/>
              <a:gd name="vf" fmla="val 115470"/>
            </a:avLst>
          </a:prstGeom>
          <a:solidFill>
            <a:srgbClr val="46D0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 name="Google Shape;109;g383dbfc32e9_2_1"/>
          <p:cNvSpPr/>
          <p:nvPr/>
        </p:nvSpPr>
        <p:spPr>
          <a:xfrm>
            <a:off x="1502775" y="2936800"/>
            <a:ext cx="228000" cy="212400"/>
          </a:xfrm>
          <a:prstGeom prst="hexagon">
            <a:avLst>
              <a:gd name="adj" fmla="val 28852"/>
              <a:gd name="vf" fmla="val 115470"/>
            </a:avLst>
          </a:prstGeom>
          <a:solidFill>
            <a:srgbClr val="46D0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 name="Google Shape;110;g383dbfc32e9_2_1"/>
          <p:cNvSpPr/>
          <p:nvPr/>
        </p:nvSpPr>
        <p:spPr>
          <a:xfrm>
            <a:off x="1502775" y="3214925"/>
            <a:ext cx="228000" cy="212400"/>
          </a:xfrm>
          <a:prstGeom prst="hexagon">
            <a:avLst>
              <a:gd name="adj" fmla="val 28852"/>
              <a:gd name="vf" fmla="val 115470"/>
            </a:avLst>
          </a:prstGeom>
          <a:solidFill>
            <a:srgbClr val="46D0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g383dbfc32e9_2_1"/>
          <p:cNvSpPr/>
          <p:nvPr/>
        </p:nvSpPr>
        <p:spPr>
          <a:xfrm>
            <a:off x="1502775" y="3481625"/>
            <a:ext cx="228000" cy="212400"/>
          </a:xfrm>
          <a:prstGeom prst="hexagon">
            <a:avLst>
              <a:gd name="adj" fmla="val 28852"/>
              <a:gd name="vf" fmla="val 115470"/>
            </a:avLst>
          </a:prstGeom>
          <a:solidFill>
            <a:srgbClr val="46D0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 name="Google Shape;112;g383dbfc32e9_2_1"/>
          <p:cNvSpPr/>
          <p:nvPr/>
        </p:nvSpPr>
        <p:spPr>
          <a:xfrm>
            <a:off x="1502775" y="1569025"/>
            <a:ext cx="228000" cy="212400"/>
          </a:xfrm>
          <a:prstGeom prst="hexagon">
            <a:avLst>
              <a:gd name="adj" fmla="val 28852"/>
              <a:gd name="vf" fmla="val 115470"/>
            </a:avLst>
          </a:prstGeom>
          <a:solidFill>
            <a:srgbClr val="46D0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3" name="Google Shape;113;g383dbfc32e9_2_1"/>
          <p:cNvPicPr preferRelativeResize="0"/>
          <p:nvPr/>
        </p:nvPicPr>
        <p:blipFill rotWithShape="1">
          <a:blip r:embed="rId3">
            <a:alphaModFix amt="10000"/>
          </a:blip>
          <a:srcRect/>
          <a:stretch/>
        </p:blipFill>
        <p:spPr>
          <a:xfrm>
            <a:off x="0" y="0"/>
            <a:ext cx="9144001" cy="5143501"/>
          </a:xfrm>
          <a:prstGeom prst="rect">
            <a:avLst/>
          </a:prstGeom>
          <a:noFill/>
          <a:ln>
            <a:noFill/>
          </a:ln>
        </p:spPr>
      </p:pic>
      <p:sp>
        <p:nvSpPr>
          <p:cNvPr id="114" name="Google Shape;114;g383dbfc32e9_2_1"/>
          <p:cNvSpPr txBox="1"/>
          <p:nvPr/>
        </p:nvSpPr>
        <p:spPr>
          <a:xfrm>
            <a:off x="1312050" y="1417350"/>
            <a:ext cx="6519900" cy="2308800"/>
          </a:xfrm>
          <a:prstGeom prst="rect">
            <a:avLst/>
          </a:prstGeom>
          <a:noFill/>
          <a:ln>
            <a:noFill/>
          </a:ln>
        </p:spPr>
        <p:txBody>
          <a:bodyPr spcFirstLastPara="1" wrap="square" lIns="91425" tIns="91425" rIns="91425" bIns="91425" anchor="t" anchorCtr="0">
            <a:spAutoFit/>
          </a:bodyPr>
          <a:lstStyle/>
          <a:p>
            <a:pPr marL="457200" lvl="0" indent="-304800" algn="just" rtl="0">
              <a:lnSpc>
                <a:spcPct val="150000"/>
              </a:lnSpc>
              <a:spcBef>
                <a:spcPts val="0"/>
              </a:spcBef>
              <a:spcAft>
                <a:spcPts val="0"/>
              </a:spcAft>
              <a:buClr>
                <a:schemeClr val="dk1"/>
              </a:buClr>
              <a:buSzPts val="1200"/>
              <a:buFont typeface="Rubik"/>
              <a:buAutoNum type="arabicPeriod"/>
            </a:pPr>
            <a:r>
              <a:rPr lang="en" sz="1200" dirty="0">
                <a:solidFill>
                  <a:schemeClr val="dk1"/>
                </a:solidFill>
                <a:latin typeface="Rubik"/>
                <a:ea typeface="Rubik"/>
                <a:cs typeface="Rubik"/>
                <a:sym typeface="Rubik"/>
              </a:rPr>
              <a:t>Bagaimana performa keuangan Kimia Farma pada periode 2020–2023?</a:t>
            </a:r>
            <a:endParaRPr sz="1200" dirty="0">
              <a:solidFill>
                <a:schemeClr val="dk1"/>
              </a:solidFill>
              <a:latin typeface="Rubik"/>
              <a:ea typeface="Rubik"/>
              <a:cs typeface="Rubik"/>
              <a:sym typeface="Rubik"/>
            </a:endParaRPr>
          </a:p>
          <a:p>
            <a:pPr marL="457200" lvl="0" indent="-304800" algn="just" rtl="0">
              <a:lnSpc>
                <a:spcPct val="150000"/>
              </a:lnSpc>
              <a:spcBef>
                <a:spcPts val="0"/>
              </a:spcBef>
              <a:spcAft>
                <a:spcPts val="0"/>
              </a:spcAft>
              <a:buClr>
                <a:schemeClr val="dk1"/>
              </a:buClr>
              <a:buSzPts val="1200"/>
              <a:buFont typeface="Rubik"/>
              <a:buAutoNum type="arabicPeriod"/>
            </a:pPr>
            <a:r>
              <a:rPr lang="en" sz="1200" dirty="0">
                <a:solidFill>
                  <a:schemeClr val="dk1"/>
                </a:solidFill>
                <a:latin typeface="Rubik"/>
                <a:ea typeface="Rubik"/>
                <a:cs typeface="Rubik"/>
                <a:sym typeface="Rubik"/>
              </a:rPr>
              <a:t>Bagaimana tren penjualan dari tahun ke tahun?</a:t>
            </a:r>
            <a:endParaRPr sz="1200" dirty="0">
              <a:solidFill>
                <a:schemeClr val="dk1"/>
              </a:solidFill>
              <a:latin typeface="Rubik"/>
              <a:ea typeface="Rubik"/>
              <a:cs typeface="Rubik"/>
              <a:sym typeface="Rubik"/>
            </a:endParaRPr>
          </a:p>
          <a:p>
            <a:pPr marL="457200" lvl="0" indent="-304800" algn="just" rtl="0">
              <a:lnSpc>
                <a:spcPct val="150000"/>
              </a:lnSpc>
              <a:spcBef>
                <a:spcPts val="0"/>
              </a:spcBef>
              <a:spcAft>
                <a:spcPts val="0"/>
              </a:spcAft>
              <a:buClr>
                <a:schemeClr val="dk1"/>
              </a:buClr>
              <a:buSzPts val="1200"/>
              <a:buFont typeface="Rubik"/>
              <a:buAutoNum type="arabicPeriod"/>
            </a:pPr>
            <a:r>
              <a:rPr lang="en" sz="1200" dirty="0">
                <a:solidFill>
                  <a:schemeClr val="dk1"/>
                </a:solidFill>
                <a:latin typeface="Rubik"/>
                <a:ea typeface="Rubik"/>
                <a:cs typeface="Rubik"/>
                <a:sym typeface="Rubik"/>
              </a:rPr>
              <a:t>Bagaimana tren jumlah transaksi per tahun?</a:t>
            </a:r>
            <a:endParaRPr sz="1200" dirty="0">
              <a:solidFill>
                <a:schemeClr val="dk1"/>
              </a:solidFill>
              <a:latin typeface="Rubik"/>
              <a:ea typeface="Rubik"/>
              <a:cs typeface="Rubik"/>
              <a:sym typeface="Rubik"/>
            </a:endParaRPr>
          </a:p>
          <a:p>
            <a:pPr marL="457200" lvl="0" indent="-304800" algn="just" rtl="0">
              <a:lnSpc>
                <a:spcPct val="150000"/>
              </a:lnSpc>
              <a:spcBef>
                <a:spcPts val="0"/>
              </a:spcBef>
              <a:spcAft>
                <a:spcPts val="0"/>
              </a:spcAft>
              <a:buClr>
                <a:schemeClr val="dk1"/>
              </a:buClr>
              <a:buSzPts val="1200"/>
              <a:buFont typeface="Rubik"/>
              <a:buAutoNum type="arabicPeriod"/>
            </a:pPr>
            <a:r>
              <a:rPr lang="en" sz="1200" dirty="0">
                <a:solidFill>
                  <a:schemeClr val="dk1"/>
                </a:solidFill>
                <a:latin typeface="Rubik"/>
                <a:ea typeface="Rubik"/>
                <a:cs typeface="Rubik"/>
                <a:sym typeface="Rubik"/>
              </a:rPr>
              <a:t>Produk apa yang memberikan kontribusi penjualan terbesar?</a:t>
            </a:r>
            <a:endParaRPr sz="1200" dirty="0">
              <a:solidFill>
                <a:schemeClr val="dk1"/>
              </a:solidFill>
              <a:latin typeface="Rubik"/>
              <a:ea typeface="Rubik"/>
              <a:cs typeface="Rubik"/>
              <a:sym typeface="Rubik"/>
            </a:endParaRPr>
          </a:p>
          <a:p>
            <a:pPr marL="457200" lvl="0" indent="-304800" algn="just" rtl="0">
              <a:lnSpc>
                <a:spcPct val="150000"/>
              </a:lnSpc>
              <a:spcBef>
                <a:spcPts val="0"/>
              </a:spcBef>
              <a:spcAft>
                <a:spcPts val="0"/>
              </a:spcAft>
              <a:buClr>
                <a:schemeClr val="dk1"/>
              </a:buClr>
              <a:buSzPts val="1200"/>
              <a:buFont typeface="Rubik"/>
              <a:buAutoNum type="arabicPeriod"/>
            </a:pPr>
            <a:r>
              <a:rPr lang="en" sz="1200" dirty="0">
                <a:solidFill>
                  <a:schemeClr val="dk1"/>
                </a:solidFill>
                <a:latin typeface="Rubik"/>
                <a:ea typeface="Rubik"/>
                <a:cs typeface="Rubik"/>
                <a:sym typeface="Rubik"/>
              </a:rPr>
              <a:t>Provinsi mana yang memberikan kontribusi terbesar terhadap penjualan?</a:t>
            </a:r>
            <a:endParaRPr sz="1200" dirty="0">
              <a:solidFill>
                <a:schemeClr val="dk1"/>
              </a:solidFill>
              <a:latin typeface="Rubik"/>
              <a:ea typeface="Rubik"/>
              <a:cs typeface="Rubik"/>
              <a:sym typeface="Rubik"/>
            </a:endParaRPr>
          </a:p>
          <a:p>
            <a:pPr marL="457200" lvl="0" indent="-304800" algn="just" rtl="0">
              <a:lnSpc>
                <a:spcPct val="150000"/>
              </a:lnSpc>
              <a:spcBef>
                <a:spcPts val="0"/>
              </a:spcBef>
              <a:spcAft>
                <a:spcPts val="0"/>
              </a:spcAft>
              <a:buClr>
                <a:schemeClr val="dk1"/>
              </a:buClr>
              <a:buSzPts val="1200"/>
              <a:buFont typeface="Rubik"/>
              <a:buAutoNum type="arabicPeriod"/>
            </a:pPr>
            <a:r>
              <a:rPr lang="en" sz="1200" dirty="0">
                <a:solidFill>
                  <a:schemeClr val="dk1"/>
                </a:solidFill>
                <a:latin typeface="Rubik"/>
                <a:ea typeface="Rubik"/>
                <a:cs typeface="Rubik"/>
                <a:sym typeface="Rubik"/>
              </a:rPr>
              <a:t>Provinsi mana yang paling menguntungkan (Net Profit)?</a:t>
            </a:r>
            <a:endParaRPr sz="1200" dirty="0">
              <a:solidFill>
                <a:schemeClr val="dk1"/>
              </a:solidFill>
              <a:latin typeface="Rubik"/>
              <a:ea typeface="Rubik"/>
              <a:cs typeface="Rubik"/>
              <a:sym typeface="Rubik"/>
            </a:endParaRPr>
          </a:p>
          <a:p>
            <a:pPr marL="457200" lvl="0" indent="-304800" algn="just" rtl="0">
              <a:lnSpc>
                <a:spcPct val="150000"/>
              </a:lnSpc>
              <a:spcBef>
                <a:spcPts val="0"/>
              </a:spcBef>
              <a:spcAft>
                <a:spcPts val="0"/>
              </a:spcAft>
              <a:buClr>
                <a:schemeClr val="dk1"/>
              </a:buClr>
              <a:buSzPts val="1200"/>
              <a:buFont typeface="Rubik"/>
              <a:buAutoNum type="arabicPeriod"/>
            </a:pPr>
            <a:r>
              <a:rPr lang="en" sz="1200" dirty="0">
                <a:solidFill>
                  <a:schemeClr val="dk1"/>
                </a:solidFill>
                <a:latin typeface="Rubik"/>
                <a:ea typeface="Rubik"/>
                <a:cs typeface="Rubik"/>
                <a:sym typeface="Rubik"/>
              </a:rPr>
              <a:t>Apakah ada perbedaan antara rating cabang dan rating transaksi?</a:t>
            </a:r>
            <a:endParaRPr sz="1200" dirty="0">
              <a:solidFill>
                <a:schemeClr val="dk1"/>
              </a:solidFill>
              <a:latin typeface="Rubik"/>
              <a:ea typeface="Rubik"/>
              <a:cs typeface="Rubik"/>
              <a:sym typeface="Rubik"/>
            </a:endParaRPr>
          </a:p>
          <a:p>
            <a:pPr marL="457200" lvl="0" indent="-304800" algn="just" rtl="0">
              <a:lnSpc>
                <a:spcPct val="150000"/>
              </a:lnSpc>
              <a:spcBef>
                <a:spcPts val="0"/>
              </a:spcBef>
              <a:spcAft>
                <a:spcPts val="0"/>
              </a:spcAft>
              <a:buClr>
                <a:schemeClr val="dk1"/>
              </a:buClr>
              <a:buSzPts val="1200"/>
              <a:buFont typeface="Rubik"/>
              <a:buAutoNum type="arabicPeriod"/>
            </a:pPr>
            <a:r>
              <a:rPr lang="en" sz="1200" dirty="0">
                <a:solidFill>
                  <a:schemeClr val="dk1"/>
                </a:solidFill>
                <a:latin typeface="Rubik"/>
                <a:ea typeface="Rubik"/>
                <a:cs typeface="Rubik"/>
                <a:sym typeface="Rubik"/>
              </a:rPr>
              <a:t>Bagaimana distribusi profit di Indonesia?</a:t>
            </a:r>
            <a:endParaRPr sz="1200" dirty="0">
              <a:solidFill>
                <a:schemeClr val="dk1"/>
              </a:solidFill>
              <a:latin typeface="Rubik"/>
              <a:ea typeface="Rubik"/>
              <a:cs typeface="Rubik"/>
              <a:sym typeface="Rubik"/>
            </a:endParaRPr>
          </a:p>
        </p:txBody>
      </p:sp>
      <p:sp>
        <p:nvSpPr>
          <p:cNvPr id="115" name="Google Shape;115;g383dbfc32e9_2_1"/>
          <p:cNvSpPr txBox="1"/>
          <p:nvPr/>
        </p:nvSpPr>
        <p:spPr>
          <a:xfrm>
            <a:off x="340500" y="452038"/>
            <a:ext cx="8463000" cy="646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 sz="3000" b="1">
                <a:latin typeface="Rubik"/>
                <a:ea typeface="Rubik"/>
                <a:cs typeface="Rubik"/>
                <a:sym typeface="Rubik"/>
              </a:rPr>
              <a:t>Questions</a:t>
            </a:r>
            <a:endParaRPr sz="3000" b="1" i="0" u="none" strike="noStrike" cap="none">
              <a:solidFill>
                <a:schemeClr val="accent5"/>
              </a:solidFill>
              <a:latin typeface="Rubik"/>
              <a:ea typeface="Rubik"/>
              <a:cs typeface="Rubik"/>
              <a:sym typeface="Rubik"/>
            </a:endParaRPr>
          </a:p>
        </p:txBody>
      </p:sp>
      <p:pic>
        <p:nvPicPr>
          <p:cNvPr id="116" name="Google Shape;116;g383dbfc32e9_2_1"/>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g23ec2985a68_1_33"/>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22" name="Google Shape;122;g23ec2985a68_1_33"/>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23" name="Google Shape;123;g23ec2985a68_1_33"/>
          <p:cNvSpPr txBox="1"/>
          <p:nvPr/>
        </p:nvSpPr>
        <p:spPr>
          <a:xfrm>
            <a:off x="340500" y="452038"/>
            <a:ext cx="8463000" cy="600300"/>
          </a:xfrm>
          <a:prstGeom prst="rect">
            <a:avLst/>
          </a:prstGeom>
          <a:noFill/>
          <a:ln>
            <a:noFill/>
          </a:ln>
          <a:effectLst>
            <a:outerShdw blurRad="57150" dist="19050" dir="2820000" algn="bl" rotWithShape="0">
              <a:srgbClr val="B7B7B7">
                <a:alpha val="85098"/>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700" b="1" i="0" u="none" strike="noStrike" cap="none">
                <a:solidFill>
                  <a:srgbClr val="000000"/>
                </a:solidFill>
                <a:latin typeface="Rubik"/>
                <a:ea typeface="Rubik"/>
                <a:cs typeface="Rubik"/>
                <a:sym typeface="Rubik"/>
              </a:rPr>
              <a:t>Importing Dataset to BigQuery</a:t>
            </a:r>
            <a:endParaRPr sz="2700" b="1" i="0" u="none" strike="noStrike" cap="none">
              <a:solidFill>
                <a:srgbClr val="000000"/>
              </a:solidFill>
              <a:latin typeface="Rubik"/>
              <a:ea typeface="Rubik"/>
              <a:cs typeface="Rubik"/>
              <a:sym typeface="Rubik"/>
            </a:endParaRPr>
          </a:p>
        </p:txBody>
      </p:sp>
      <p:sp>
        <p:nvSpPr>
          <p:cNvPr id="124" name="Google Shape;124;g23ec2985a68_1_33"/>
          <p:cNvSpPr txBox="1"/>
          <p:nvPr/>
        </p:nvSpPr>
        <p:spPr>
          <a:xfrm>
            <a:off x="340500" y="1188200"/>
            <a:ext cx="8463000" cy="646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400"/>
              <a:buFont typeface="Arial"/>
              <a:buNone/>
            </a:pPr>
            <a:r>
              <a:rPr lang="en" sz="1200">
                <a:solidFill>
                  <a:schemeClr val="dk1"/>
                </a:solidFill>
                <a:latin typeface="Rubik"/>
                <a:ea typeface="Rubik"/>
                <a:cs typeface="Rubik"/>
                <a:sym typeface="Rubik"/>
              </a:rPr>
              <a:t>Hal yang perlu kita lakukan pertama adalah membuat Project dan menekan tombol </a:t>
            </a:r>
            <a:r>
              <a:rPr lang="en" sz="1200" b="1">
                <a:solidFill>
                  <a:schemeClr val="dk1"/>
                </a:solidFill>
                <a:latin typeface="Rubik"/>
                <a:ea typeface="Rubik"/>
                <a:cs typeface="Rubik"/>
                <a:sym typeface="Rubik"/>
              </a:rPr>
              <a:t>Create, </a:t>
            </a:r>
            <a:r>
              <a:rPr lang="en" sz="1200">
                <a:solidFill>
                  <a:schemeClr val="dk1"/>
                </a:solidFill>
                <a:latin typeface="Rubik"/>
                <a:ea typeface="Rubik"/>
                <a:cs typeface="Rubik"/>
                <a:sym typeface="Rubik"/>
              </a:rPr>
              <a:t>setelah itu menekan tombol </a:t>
            </a:r>
            <a:r>
              <a:rPr lang="en" sz="1200" b="1">
                <a:solidFill>
                  <a:schemeClr val="dk1"/>
                </a:solidFill>
                <a:latin typeface="Rubik"/>
                <a:ea typeface="Rubik"/>
                <a:cs typeface="Rubik"/>
                <a:sym typeface="Rubik"/>
              </a:rPr>
              <a:t>Add Data</a:t>
            </a:r>
            <a:r>
              <a:rPr lang="en" sz="1200">
                <a:solidFill>
                  <a:schemeClr val="dk1"/>
                </a:solidFill>
                <a:latin typeface="Rubik"/>
                <a:ea typeface="Rubik"/>
                <a:cs typeface="Rubik"/>
                <a:sym typeface="Rubik"/>
              </a:rPr>
              <a:t> dan bisa memilih </a:t>
            </a:r>
            <a:r>
              <a:rPr lang="en" sz="1200" b="1">
                <a:solidFill>
                  <a:schemeClr val="dk1"/>
                </a:solidFill>
                <a:latin typeface="Rubik"/>
                <a:ea typeface="Rubik"/>
                <a:cs typeface="Rubik"/>
                <a:sym typeface="Rubik"/>
              </a:rPr>
              <a:t>Local File</a:t>
            </a:r>
            <a:r>
              <a:rPr lang="en" sz="1200">
                <a:solidFill>
                  <a:schemeClr val="dk1"/>
                </a:solidFill>
                <a:latin typeface="Rubik"/>
                <a:ea typeface="Rubik"/>
                <a:cs typeface="Rubik"/>
                <a:sym typeface="Rubik"/>
              </a:rPr>
              <a:t> (tergantung tempat penyimpanan data dan format anda).</a:t>
            </a:r>
            <a:endParaRPr sz="4800" i="0" u="none" strike="noStrike" cap="none">
              <a:solidFill>
                <a:srgbClr val="000000"/>
              </a:solidFill>
              <a:latin typeface="Rubik"/>
              <a:ea typeface="Rubik"/>
              <a:cs typeface="Rubik"/>
              <a:sym typeface="Rubik"/>
            </a:endParaRPr>
          </a:p>
        </p:txBody>
      </p:sp>
      <p:pic>
        <p:nvPicPr>
          <p:cNvPr id="125" name="Google Shape;125;g23ec2985a68_1_33" title="Untitled design (6).png"/>
          <p:cNvPicPr preferRelativeResize="0"/>
          <p:nvPr/>
        </p:nvPicPr>
        <p:blipFill>
          <a:blip r:embed="rId5">
            <a:alphaModFix/>
          </a:blip>
          <a:stretch>
            <a:fillRect/>
          </a:stretch>
        </p:blipFill>
        <p:spPr>
          <a:xfrm>
            <a:off x="5915525" y="2128025"/>
            <a:ext cx="3023499" cy="1726800"/>
          </a:xfrm>
          <a:prstGeom prst="rect">
            <a:avLst/>
          </a:prstGeom>
          <a:noFill/>
          <a:ln>
            <a:noFill/>
          </a:ln>
        </p:spPr>
      </p:pic>
      <p:pic>
        <p:nvPicPr>
          <p:cNvPr id="126" name="Google Shape;126;g23ec2985a68_1_33" title="Untitled design (5).png"/>
          <p:cNvPicPr preferRelativeResize="0"/>
          <p:nvPr/>
        </p:nvPicPr>
        <p:blipFill>
          <a:blip r:embed="rId6">
            <a:alphaModFix/>
          </a:blip>
          <a:stretch>
            <a:fillRect/>
          </a:stretch>
        </p:blipFill>
        <p:spPr>
          <a:xfrm>
            <a:off x="3479500" y="2327825"/>
            <a:ext cx="2226023" cy="1447875"/>
          </a:xfrm>
          <a:prstGeom prst="rect">
            <a:avLst/>
          </a:prstGeom>
          <a:noFill/>
          <a:ln>
            <a:noFill/>
          </a:ln>
        </p:spPr>
      </p:pic>
      <p:pic>
        <p:nvPicPr>
          <p:cNvPr id="127" name="Google Shape;127;g23ec2985a68_1_33" title="Untitled design (4).png"/>
          <p:cNvPicPr preferRelativeResize="0"/>
          <p:nvPr/>
        </p:nvPicPr>
        <p:blipFill>
          <a:blip r:embed="rId7">
            <a:alphaModFix/>
          </a:blip>
          <a:stretch>
            <a:fillRect/>
          </a:stretch>
        </p:blipFill>
        <p:spPr>
          <a:xfrm>
            <a:off x="204975" y="2335325"/>
            <a:ext cx="3064525" cy="1447875"/>
          </a:xfrm>
          <a:prstGeom prst="rect">
            <a:avLst/>
          </a:prstGeom>
          <a:noFill/>
          <a:ln>
            <a:noFill/>
          </a:ln>
        </p:spPr>
      </p:pic>
      <p:sp>
        <p:nvSpPr>
          <p:cNvPr id="128" name="Google Shape;128;g23ec2985a68_1_33"/>
          <p:cNvSpPr/>
          <p:nvPr/>
        </p:nvSpPr>
        <p:spPr>
          <a:xfrm>
            <a:off x="1365000" y="4035000"/>
            <a:ext cx="427500" cy="337500"/>
          </a:xfrm>
          <a:prstGeom prst="hexagon">
            <a:avLst>
              <a:gd name="adj" fmla="val 28852"/>
              <a:gd name="vf" fmla="val 115470"/>
            </a:avLst>
          </a:prstGeom>
          <a:solidFill>
            <a:srgbClr val="46D0D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1</a:t>
            </a:r>
            <a:endParaRPr/>
          </a:p>
        </p:txBody>
      </p:sp>
      <p:sp>
        <p:nvSpPr>
          <p:cNvPr id="129" name="Google Shape;129;g23ec2985a68_1_33"/>
          <p:cNvSpPr/>
          <p:nvPr/>
        </p:nvSpPr>
        <p:spPr>
          <a:xfrm>
            <a:off x="4284900" y="4035000"/>
            <a:ext cx="427500" cy="337500"/>
          </a:xfrm>
          <a:prstGeom prst="hexagon">
            <a:avLst>
              <a:gd name="adj" fmla="val 28852"/>
              <a:gd name="vf" fmla="val 115470"/>
            </a:avLst>
          </a:prstGeom>
          <a:solidFill>
            <a:srgbClr val="46D0D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2</a:t>
            </a:r>
            <a:endParaRPr/>
          </a:p>
        </p:txBody>
      </p:sp>
      <p:sp>
        <p:nvSpPr>
          <p:cNvPr id="130" name="Google Shape;130;g23ec2985a68_1_33"/>
          <p:cNvSpPr/>
          <p:nvPr/>
        </p:nvSpPr>
        <p:spPr>
          <a:xfrm>
            <a:off x="7204800" y="4035000"/>
            <a:ext cx="427500" cy="337500"/>
          </a:xfrm>
          <a:prstGeom prst="hexagon">
            <a:avLst>
              <a:gd name="adj" fmla="val 28852"/>
              <a:gd name="vf" fmla="val 115470"/>
            </a:avLst>
          </a:prstGeom>
          <a:solidFill>
            <a:srgbClr val="46D0D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3</a:t>
            </a:r>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g383dbfc32e9_4_3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36" name="Google Shape;136;g383dbfc32e9_4_3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37" name="Google Shape;137;g383dbfc32e9_4_39"/>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700" b="1" i="0" u="none" strike="noStrike" cap="none">
                <a:solidFill>
                  <a:srgbClr val="000000"/>
                </a:solidFill>
                <a:latin typeface="Rubik"/>
                <a:ea typeface="Rubik"/>
                <a:cs typeface="Rubik"/>
                <a:sym typeface="Rubik"/>
              </a:rPr>
              <a:t>Importing Dataset to BigQuery</a:t>
            </a:r>
            <a:endParaRPr sz="2700" b="1" i="0" u="none" strike="noStrike" cap="none">
              <a:solidFill>
                <a:srgbClr val="000000"/>
              </a:solidFill>
              <a:latin typeface="Rubik"/>
              <a:ea typeface="Rubik"/>
              <a:cs typeface="Rubik"/>
              <a:sym typeface="Rubik"/>
            </a:endParaRPr>
          </a:p>
        </p:txBody>
      </p:sp>
      <p:sp>
        <p:nvSpPr>
          <p:cNvPr id="138" name="Google Shape;138;g383dbfc32e9_4_39"/>
          <p:cNvSpPr txBox="1"/>
          <p:nvPr/>
        </p:nvSpPr>
        <p:spPr>
          <a:xfrm>
            <a:off x="340500" y="1052362"/>
            <a:ext cx="8463000" cy="646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400"/>
              <a:buFont typeface="Arial"/>
              <a:buNone/>
            </a:pPr>
            <a:r>
              <a:rPr lang="en" sz="1200">
                <a:solidFill>
                  <a:schemeClr val="dk1"/>
                </a:solidFill>
                <a:latin typeface="Rubik"/>
                <a:ea typeface="Rubik"/>
                <a:cs typeface="Rubik"/>
                <a:sym typeface="Rubik"/>
              </a:rPr>
              <a:t>Setelah itu kalian perlu membuat </a:t>
            </a:r>
            <a:r>
              <a:rPr lang="en" sz="1200" b="1">
                <a:solidFill>
                  <a:schemeClr val="dk1"/>
                </a:solidFill>
                <a:latin typeface="Rubik"/>
                <a:ea typeface="Rubik"/>
                <a:cs typeface="Rubik"/>
                <a:sym typeface="Rubik"/>
              </a:rPr>
              <a:t>Dataset </a:t>
            </a:r>
            <a:r>
              <a:rPr lang="en" sz="1200">
                <a:solidFill>
                  <a:schemeClr val="dk1"/>
                </a:solidFill>
                <a:latin typeface="Rubik"/>
                <a:ea typeface="Rubik"/>
                <a:cs typeface="Rubik"/>
                <a:sym typeface="Rubik"/>
              </a:rPr>
              <a:t>dulu untuk mengisi </a:t>
            </a:r>
            <a:r>
              <a:rPr lang="en" sz="1200" b="1">
                <a:solidFill>
                  <a:schemeClr val="dk1"/>
                </a:solidFill>
                <a:latin typeface="Rubik"/>
                <a:ea typeface="Rubik"/>
                <a:cs typeface="Rubik"/>
                <a:sym typeface="Rubik"/>
              </a:rPr>
              <a:t>Table, </a:t>
            </a:r>
            <a:r>
              <a:rPr lang="en" sz="1200">
                <a:solidFill>
                  <a:schemeClr val="dk1"/>
                </a:solidFill>
                <a:latin typeface="Rubik"/>
                <a:ea typeface="Rubik"/>
                <a:cs typeface="Rubik"/>
                <a:sym typeface="Rubik"/>
              </a:rPr>
              <a:t>Setelah dataset terbuat bisa dilanjutkan untuk mengisi file, nama dataset, dan nama table. Setelah data Source sudah lengkap maka bisa </a:t>
            </a:r>
            <a:r>
              <a:rPr lang="en" sz="1200" b="1">
                <a:solidFill>
                  <a:schemeClr val="dk1"/>
                </a:solidFill>
                <a:latin typeface="Rubik"/>
                <a:ea typeface="Rubik"/>
                <a:cs typeface="Rubik"/>
                <a:sym typeface="Rubik"/>
              </a:rPr>
              <a:t>Create Table.</a:t>
            </a:r>
            <a:endParaRPr sz="4800" b="1" i="0" u="none" strike="noStrike" cap="none">
              <a:solidFill>
                <a:srgbClr val="000000"/>
              </a:solidFill>
              <a:latin typeface="Rubik"/>
              <a:ea typeface="Rubik"/>
              <a:cs typeface="Rubik"/>
              <a:sym typeface="Rubik"/>
            </a:endParaRPr>
          </a:p>
        </p:txBody>
      </p:sp>
      <p:pic>
        <p:nvPicPr>
          <p:cNvPr id="139" name="Google Shape;139;g383dbfc32e9_4_39" title="Untitled design (8).png"/>
          <p:cNvPicPr preferRelativeResize="0"/>
          <p:nvPr/>
        </p:nvPicPr>
        <p:blipFill>
          <a:blip r:embed="rId5">
            <a:alphaModFix/>
          </a:blip>
          <a:stretch>
            <a:fillRect/>
          </a:stretch>
        </p:blipFill>
        <p:spPr>
          <a:xfrm>
            <a:off x="4603275" y="1974950"/>
            <a:ext cx="4234225" cy="2180050"/>
          </a:xfrm>
          <a:prstGeom prst="rect">
            <a:avLst/>
          </a:prstGeom>
          <a:noFill/>
          <a:ln>
            <a:noFill/>
          </a:ln>
        </p:spPr>
      </p:pic>
      <p:pic>
        <p:nvPicPr>
          <p:cNvPr id="140" name="Google Shape;140;g383dbfc32e9_4_39" title="Untitled design (7).png"/>
          <p:cNvPicPr preferRelativeResize="0"/>
          <p:nvPr/>
        </p:nvPicPr>
        <p:blipFill>
          <a:blip r:embed="rId6">
            <a:alphaModFix/>
          </a:blip>
          <a:stretch>
            <a:fillRect/>
          </a:stretch>
        </p:blipFill>
        <p:spPr>
          <a:xfrm>
            <a:off x="270075" y="2407538"/>
            <a:ext cx="4133850" cy="1533525"/>
          </a:xfrm>
          <a:prstGeom prst="rect">
            <a:avLst/>
          </a:prstGeom>
          <a:noFill/>
          <a:ln>
            <a:noFill/>
          </a:ln>
        </p:spPr>
      </p:pic>
      <p:sp>
        <p:nvSpPr>
          <p:cNvPr id="141" name="Google Shape;141;g383dbfc32e9_4_39"/>
          <p:cNvSpPr/>
          <p:nvPr/>
        </p:nvSpPr>
        <p:spPr>
          <a:xfrm>
            <a:off x="2092500" y="4297500"/>
            <a:ext cx="427500" cy="337500"/>
          </a:xfrm>
          <a:prstGeom prst="hexagon">
            <a:avLst>
              <a:gd name="adj" fmla="val 28852"/>
              <a:gd name="vf" fmla="val 115470"/>
            </a:avLst>
          </a:prstGeom>
          <a:solidFill>
            <a:srgbClr val="46D0D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4</a:t>
            </a:r>
            <a:endParaRPr/>
          </a:p>
        </p:txBody>
      </p:sp>
      <p:sp>
        <p:nvSpPr>
          <p:cNvPr id="142" name="Google Shape;142;g383dbfc32e9_4_39"/>
          <p:cNvSpPr/>
          <p:nvPr/>
        </p:nvSpPr>
        <p:spPr>
          <a:xfrm>
            <a:off x="6506638" y="4297500"/>
            <a:ext cx="427500" cy="337500"/>
          </a:xfrm>
          <a:prstGeom prst="hexagon">
            <a:avLst>
              <a:gd name="adj" fmla="val 28852"/>
              <a:gd name="vf" fmla="val 115470"/>
            </a:avLst>
          </a:prstGeom>
          <a:solidFill>
            <a:srgbClr val="46D0D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5</a:t>
            </a:r>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83dbfc32e9_4_56"/>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48" name="Google Shape;148;g383dbfc32e9_4_56"/>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49" name="Google Shape;149;g383dbfc32e9_4_56"/>
          <p:cNvSpPr txBox="1"/>
          <p:nvPr/>
        </p:nvSpPr>
        <p:spPr>
          <a:xfrm>
            <a:off x="349800" y="309650"/>
            <a:ext cx="5487000" cy="4926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000" b="1">
                <a:latin typeface="Rubik"/>
                <a:ea typeface="Rubik"/>
                <a:cs typeface="Rubik"/>
                <a:sym typeface="Rubik"/>
              </a:rPr>
              <a:t>Table kf_final_transaction</a:t>
            </a:r>
            <a:endParaRPr sz="2000" b="1" i="0" u="none" strike="noStrike" cap="none">
              <a:solidFill>
                <a:srgbClr val="000000"/>
              </a:solidFill>
              <a:latin typeface="Rubik"/>
              <a:ea typeface="Rubik"/>
              <a:cs typeface="Rubik"/>
              <a:sym typeface="Rubik"/>
            </a:endParaRPr>
          </a:p>
        </p:txBody>
      </p:sp>
      <p:sp>
        <p:nvSpPr>
          <p:cNvPr id="150" name="Google Shape;150;g383dbfc32e9_4_56"/>
          <p:cNvSpPr txBox="1"/>
          <p:nvPr/>
        </p:nvSpPr>
        <p:spPr>
          <a:xfrm>
            <a:off x="349800" y="1208450"/>
            <a:ext cx="4041600" cy="1477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transaction_id :</a:t>
            </a:r>
            <a:r>
              <a:rPr lang="en" sz="1200">
                <a:solidFill>
                  <a:schemeClr val="dk1"/>
                </a:solidFill>
                <a:latin typeface="Rubik"/>
                <a:ea typeface="Rubik"/>
                <a:cs typeface="Rubik"/>
                <a:sym typeface="Rubik"/>
              </a:rPr>
              <a:t> kode unik untuk setiap transaksi.</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date :</a:t>
            </a:r>
            <a:r>
              <a:rPr lang="en" sz="1200">
                <a:solidFill>
                  <a:schemeClr val="dk1"/>
                </a:solidFill>
                <a:latin typeface="Rubik"/>
                <a:ea typeface="Rubik"/>
                <a:cs typeface="Rubik"/>
                <a:sym typeface="Rubik"/>
              </a:rPr>
              <a:t> tanggal pembelian produk.</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branch_id :</a:t>
            </a:r>
            <a:r>
              <a:rPr lang="en" sz="1200">
                <a:solidFill>
                  <a:schemeClr val="dk1"/>
                </a:solidFill>
                <a:latin typeface="Rubik"/>
                <a:ea typeface="Rubik"/>
                <a:cs typeface="Rubik"/>
                <a:sym typeface="Rubik"/>
              </a:rPr>
              <a:t> kode cabang tempat transaksi dilakukan.</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customer_name : </a:t>
            </a:r>
            <a:r>
              <a:rPr lang="en" sz="1200">
                <a:solidFill>
                  <a:schemeClr val="dk1"/>
                </a:solidFill>
                <a:latin typeface="Rubik"/>
                <a:ea typeface="Rubik"/>
                <a:cs typeface="Rubik"/>
                <a:sym typeface="Rubik"/>
              </a:rPr>
              <a:t>nama pelanggan yang melakukan transaksi.</a:t>
            </a:r>
            <a:endParaRPr sz="1200">
              <a:solidFill>
                <a:schemeClr val="dk1"/>
              </a:solidFill>
              <a:latin typeface="Rubik"/>
              <a:ea typeface="Rubik"/>
              <a:cs typeface="Rubik"/>
              <a:sym typeface="Rubik"/>
            </a:endParaRPr>
          </a:p>
        </p:txBody>
      </p:sp>
      <p:pic>
        <p:nvPicPr>
          <p:cNvPr id="151" name="Google Shape;151;g383dbfc32e9_4_56"/>
          <p:cNvPicPr preferRelativeResize="0"/>
          <p:nvPr/>
        </p:nvPicPr>
        <p:blipFill>
          <a:blip r:embed="rId5">
            <a:alphaModFix/>
          </a:blip>
          <a:stretch>
            <a:fillRect/>
          </a:stretch>
        </p:blipFill>
        <p:spPr>
          <a:xfrm>
            <a:off x="840925" y="2828450"/>
            <a:ext cx="7311576" cy="2038325"/>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sp>
        <p:nvSpPr>
          <p:cNvPr id="152" name="Google Shape;152;g383dbfc32e9_4_56"/>
          <p:cNvSpPr txBox="1"/>
          <p:nvPr/>
        </p:nvSpPr>
        <p:spPr>
          <a:xfrm>
            <a:off x="4391400" y="1208450"/>
            <a:ext cx="4402800" cy="1477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b="1">
                <a:solidFill>
                  <a:schemeClr val="dk1"/>
                </a:solidFill>
                <a:latin typeface="Rubik"/>
                <a:ea typeface="Rubik"/>
                <a:cs typeface="Rubik"/>
                <a:sym typeface="Rubik"/>
              </a:rPr>
              <a:t>product_id :</a:t>
            </a:r>
            <a:r>
              <a:rPr lang="en" sz="1200">
                <a:solidFill>
                  <a:schemeClr val="dk1"/>
                </a:solidFill>
                <a:latin typeface="Rubik"/>
                <a:ea typeface="Rubik"/>
                <a:cs typeface="Rubik"/>
                <a:sym typeface="Rubik"/>
              </a:rPr>
              <a:t> kode produk yang dibeli.</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None/>
            </a:pPr>
            <a:r>
              <a:rPr lang="en" sz="1200" b="1">
                <a:solidFill>
                  <a:schemeClr val="dk1"/>
                </a:solidFill>
                <a:latin typeface="Rubik"/>
                <a:ea typeface="Rubik"/>
                <a:cs typeface="Rubik"/>
                <a:sym typeface="Rubik"/>
              </a:rPr>
              <a:t>price :</a:t>
            </a:r>
            <a:r>
              <a:rPr lang="en" sz="1200">
                <a:solidFill>
                  <a:schemeClr val="dk1"/>
                </a:solidFill>
                <a:latin typeface="Rubik"/>
                <a:ea typeface="Rubik"/>
                <a:cs typeface="Rubik"/>
                <a:sym typeface="Rubik"/>
              </a:rPr>
              <a:t> harga produk pada saat transaksi.</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None/>
            </a:pPr>
            <a:r>
              <a:rPr lang="en" sz="1200" b="1">
                <a:solidFill>
                  <a:schemeClr val="dk1"/>
                </a:solidFill>
                <a:latin typeface="Rubik"/>
                <a:ea typeface="Rubik"/>
                <a:cs typeface="Rubik"/>
                <a:sym typeface="Rubik"/>
              </a:rPr>
              <a:t>discount_percentage :</a:t>
            </a:r>
            <a:r>
              <a:rPr lang="en" sz="1200">
                <a:solidFill>
                  <a:schemeClr val="dk1"/>
                </a:solidFill>
                <a:latin typeface="Rubik"/>
                <a:ea typeface="Rubik"/>
                <a:cs typeface="Rubik"/>
                <a:sym typeface="Rubik"/>
              </a:rPr>
              <a:t> persentase diskon yang diberikan.</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None/>
            </a:pPr>
            <a:r>
              <a:rPr lang="en" sz="1200" b="1">
                <a:solidFill>
                  <a:schemeClr val="dk1"/>
                </a:solidFill>
                <a:latin typeface="Rubik"/>
                <a:ea typeface="Rubik"/>
                <a:cs typeface="Rubik"/>
                <a:sym typeface="Rubik"/>
              </a:rPr>
              <a:t>rating :</a:t>
            </a:r>
            <a:r>
              <a:rPr lang="en" sz="1200">
                <a:solidFill>
                  <a:schemeClr val="dk1"/>
                </a:solidFill>
                <a:latin typeface="Rubik"/>
                <a:ea typeface="Rubik"/>
                <a:cs typeface="Rubik"/>
                <a:sym typeface="Rubik"/>
              </a:rPr>
              <a:t> penilaian atau kepuasan pelanggan terhadap transaksi.</a:t>
            </a:r>
            <a:endParaRPr/>
          </a:p>
        </p:txBody>
      </p:sp>
      <p:sp>
        <p:nvSpPr>
          <p:cNvPr id="153" name="Google Shape;153;g383dbfc32e9_4_56"/>
          <p:cNvSpPr txBox="1"/>
          <p:nvPr/>
        </p:nvSpPr>
        <p:spPr>
          <a:xfrm>
            <a:off x="349800" y="873200"/>
            <a:ext cx="7997700" cy="369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chemeClr val="dk1"/>
                </a:solidFill>
                <a:latin typeface="Rubik"/>
                <a:ea typeface="Rubik"/>
                <a:cs typeface="Rubik"/>
                <a:sym typeface="Rubik"/>
              </a:rPr>
              <a:t>Merupakan dataset yang berisi data transaksi pelanggan. Terdiri dari beberapa kolom, di antaranya:</a:t>
            </a:r>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g383dbfc32e9_4_84"/>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59" name="Google Shape;159;g383dbfc32e9_4_84"/>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60" name="Google Shape;160;g383dbfc32e9_4_84"/>
          <p:cNvSpPr txBox="1"/>
          <p:nvPr/>
        </p:nvSpPr>
        <p:spPr>
          <a:xfrm>
            <a:off x="349800" y="309650"/>
            <a:ext cx="5487000" cy="4926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000" b="1">
                <a:latin typeface="Rubik"/>
                <a:ea typeface="Rubik"/>
                <a:cs typeface="Rubik"/>
                <a:sym typeface="Rubik"/>
              </a:rPr>
              <a:t>Table kf_inventory</a:t>
            </a:r>
            <a:endParaRPr sz="2000" b="1" i="0" u="none" strike="noStrike" cap="none">
              <a:solidFill>
                <a:srgbClr val="000000"/>
              </a:solidFill>
              <a:latin typeface="Rubik"/>
              <a:ea typeface="Rubik"/>
              <a:cs typeface="Rubik"/>
              <a:sym typeface="Rubik"/>
            </a:endParaRPr>
          </a:p>
        </p:txBody>
      </p:sp>
      <p:sp>
        <p:nvSpPr>
          <p:cNvPr id="161" name="Google Shape;161;g383dbfc32e9_4_84"/>
          <p:cNvSpPr txBox="1"/>
          <p:nvPr/>
        </p:nvSpPr>
        <p:spPr>
          <a:xfrm>
            <a:off x="349800" y="1403438"/>
            <a:ext cx="4041600" cy="9234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inventory_id </a:t>
            </a:r>
            <a:r>
              <a:rPr lang="en" sz="1200">
                <a:solidFill>
                  <a:schemeClr val="dk1"/>
                </a:solidFill>
                <a:latin typeface="Rubik"/>
                <a:ea typeface="Rubik"/>
                <a:cs typeface="Rubik"/>
                <a:sym typeface="Rubik"/>
              </a:rPr>
              <a:t>: kode unik untuk setiap data stok.</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branch_id </a:t>
            </a:r>
            <a:r>
              <a:rPr lang="en" sz="1200">
                <a:solidFill>
                  <a:schemeClr val="dk1"/>
                </a:solidFill>
                <a:latin typeface="Rubik"/>
                <a:ea typeface="Rubik"/>
                <a:cs typeface="Rubik"/>
                <a:sym typeface="Rubik"/>
              </a:rPr>
              <a:t>: kode cabang tempat produk disimpan.</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product_id </a:t>
            </a:r>
            <a:r>
              <a:rPr lang="en" sz="1200">
                <a:solidFill>
                  <a:schemeClr val="dk1"/>
                </a:solidFill>
                <a:latin typeface="Rubik"/>
                <a:ea typeface="Rubik"/>
                <a:cs typeface="Rubik"/>
                <a:sym typeface="Rubik"/>
              </a:rPr>
              <a:t>:</a:t>
            </a:r>
            <a:r>
              <a:rPr lang="en" sz="1200" b="1">
                <a:solidFill>
                  <a:schemeClr val="dk1"/>
                </a:solidFill>
                <a:latin typeface="Rubik"/>
                <a:ea typeface="Rubik"/>
                <a:cs typeface="Rubik"/>
                <a:sym typeface="Rubik"/>
              </a:rPr>
              <a:t> </a:t>
            </a:r>
            <a:r>
              <a:rPr lang="en" sz="1200">
                <a:solidFill>
                  <a:schemeClr val="dk1"/>
                </a:solidFill>
                <a:latin typeface="Rubik"/>
                <a:ea typeface="Rubik"/>
                <a:cs typeface="Rubik"/>
                <a:sym typeface="Rubik"/>
              </a:rPr>
              <a:t>kode produk.</a:t>
            </a:r>
            <a:endParaRPr sz="1200">
              <a:solidFill>
                <a:schemeClr val="dk1"/>
              </a:solidFill>
              <a:latin typeface="Rubik"/>
              <a:ea typeface="Rubik"/>
              <a:cs typeface="Rubik"/>
              <a:sym typeface="Rubik"/>
            </a:endParaRPr>
          </a:p>
        </p:txBody>
      </p:sp>
      <p:sp>
        <p:nvSpPr>
          <p:cNvPr id="162" name="Google Shape;162;g383dbfc32e9_4_84"/>
          <p:cNvSpPr txBox="1"/>
          <p:nvPr/>
        </p:nvSpPr>
        <p:spPr>
          <a:xfrm>
            <a:off x="4391400" y="1371925"/>
            <a:ext cx="4402800" cy="646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b="1">
                <a:solidFill>
                  <a:schemeClr val="dk1"/>
                </a:solidFill>
                <a:latin typeface="Rubik"/>
                <a:ea typeface="Rubik"/>
                <a:cs typeface="Rubik"/>
                <a:sym typeface="Rubik"/>
              </a:rPr>
              <a:t>product_name </a:t>
            </a:r>
            <a:r>
              <a:rPr lang="en" sz="1200">
                <a:solidFill>
                  <a:schemeClr val="dk1"/>
                </a:solidFill>
                <a:latin typeface="Rubik"/>
                <a:ea typeface="Rubik"/>
                <a:cs typeface="Rubik"/>
                <a:sym typeface="Rubik"/>
              </a:rPr>
              <a:t>: nama produk.</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None/>
            </a:pPr>
            <a:r>
              <a:rPr lang="en" sz="1200" b="1">
                <a:solidFill>
                  <a:schemeClr val="dk1"/>
                </a:solidFill>
                <a:latin typeface="Rubik"/>
                <a:ea typeface="Rubik"/>
                <a:cs typeface="Rubik"/>
                <a:sym typeface="Rubik"/>
              </a:rPr>
              <a:t>opname_stock </a:t>
            </a:r>
            <a:r>
              <a:rPr lang="en" sz="1200">
                <a:solidFill>
                  <a:schemeClr val="dk1"/>
                </a:solidFill>
                <a:latin typeface="Rubik"/>
                <a:ea typeface="Rubik"/>
                <a:cs typeface="Rubik"/>
                <a:sym typeface="Rubik"/>
              </a:rPr>
              <a:t>: jumlah stok produk yang tersedia.</a:t>
            </a:r>
            <a:endParaRPr sz="1200">
              <a:solidFill>
                <a:schemeClr val="dk1"/>
              </a:solidFill>
              <a:latin typeface="Rubik"/>
              <a:ea typeface="Rubik"/>
              <a:cs typeface="Rubik"/>
              <a:sym typeface="Rubik"/>
            </a:endParaRPr>
          </a:p>
        </p:txBody>
      </p:sp>
      <p:sp>
        <p:nvSpPr>
          <p:cNvPr id="163" name="Google Shape;163;g383dbfc32e9_4_84"/>
          <p:cNvSpPr txBox="1"/>
          <p:nvPr/>
        </p:nvSpPr>
        <p:spPr>
          <a:xfrm>
            <a:off x="349800" y="809438"/>
            <a:ext cx="7997700" cy="646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chemeClr val="dk1"/>
                </a:solidFill>
                <a:latin typeface="Rubik"/>
                <a:ea typeface="Rubik"/>
                <a:cs typeface="Rubik"/>
                <a:sym typeface="Rubik"/>
              </a:rPr>
              <a:t>Merupakan dataset yang berisi data ketersediaan produk di gudang atau cabang. Terdiri dari beberapa kolom, di antaranya:</a:t>
            </a:r>
            <a:endParaRPr/>
          </a:p>
        </p:txBody>
      </p:sp>
      <p:pic>
        <p:nvPicPr>
          <p:cNvPr id="164" name="Google Shape;164;g383dbfc32e9_4_84"/>
          <p:cNvPicPr preferRelativeResize="0"/>
          <p:nvPr/>
        </p:nvPicPr>
        <p:blipFill>
          <a:blip r:embed="rId5">
            <a:alphaModFix/>
          </a:blip>
          <a:stretch>
            <a:fillRect/>
          </a:stretch>
        </p:blipFill>
        <p:spPr>
          <a:xfrm>
            <a:off x="1163948" y="2326848"/>
            <a:ext cx="6369400" cy="2595550"/>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g383dbfc32e9_4_101"/>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70" name="Google Shape;170;g383dbfc32e9_4_101"/>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71" name="Google Shape;171;g383dbfc32e9_4_101"/>
          <p:cNvSpPr txBox="1"/>
          <p:nvPr/>
        </p:nvSpPr>
        <p:spPr>
          <a:xfrm>
            <a:off x="349800" y="309650"/>
            <a:ext cx="5487000" cy="4926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000" b="1">
                <a:latin typeface="Rubik"/>
                <a:ea typeface="Rubik"/>
                <a:cs typeface="Rubik"/>
                <a:sym typeface="Rubik"/>
              </a:rPr>
              <a:t>Table kf_kantor_cabang</a:t>
            </a:r>
            <a:endParaRPr sz="2000" b="1" i="0" u="none" strike="noStrike" cap="none">
              <a:solidFill>
                <a:srgbClr val="000000"/>
              </a:solidFill>
              <a:latin typeface="Rubik"/>
              <a:ea typeface="Rubik"/>
              <a:cs typeface="Rubik"/>
              <a:sym typeface="Rubik"/>
            </a:endParaRPr>
          </a:p>
        </p:txBody>
      </p:sp>
      <p:sp>
        <p:nvSpPr>
          <p:cNvPr id="172" name="Google Shape;172;g383dbfc32e9_4_101"/>
          <p:cNvSpPr txBox="1"/>
          <p:nvPr/>
        </p:nvSpPr>
        <p:spPr>
          <a:xfrm>
            <a:off x="349800" y="1371938"/>
            <a:ext cx="4222200" cy="12006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branch_id :</a:t>
            </a:r>
            <a:r>
              <a:rPr lang="en" sz="1200">
                <a:solidFill>
                  <a:schemeClr val="dk1"/>
                </a:solidFill>
                <a:latin typeface="Rubik"/>
                <a:ea typeface="Rubik"/>
                <a:cs typeface="Rubik"/>
                <a:sym typeface="Rubik"/>
              </a:rPr>
              <a:t> kode cabang.</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branch_category :</a:t>
            </a:r>
            <a:r>
              <a:rPr lang="en" sz="1200">
                <a:solidFill>
                  <a:schemeClr val="dk1"/>
                </a:solidFill>
                <a:latin typeface="Rubik"/>
                <a:ea typeface="Rubik"/>
                <a:cs typeface="Rubik"/>
                <a:sym typeface="Rubik"/>
              </a:rPr>
              <a:t> kategori cabang (misalnya apotek, klinik, dll).</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branch_name :</a:t>
            </a:r>
            <a:r>
              <a:rPr lang="en" sz="1200">
                <a:solidFill>
                  <a:schemeClr val="dk1"/>
                </a:solidFill>
                <a:latin typeface="Rubik"/>
                <a:ea typeface="Rubik"/>
                <a:cs typeface="Rubik"/>
                <a:sym typeface="Rubik"/>
              </a:rPr>
              <a:t> nama cabang.</a:t>
            </a:r>
            <a:endParaRPr sz="1200">
              <a:solidFill>
                <a:schemeClr val="dk1"/>
              </a:solidFill>
              <a:latin typeface="Rubik"/>
              <a:ea typeface="Rubik"/>
              <a:cs typeface="Rubik"/>
              <a:sym typeface="Rubik"/>
            </a:endParaRPr>
          </a:p>
        </p:txBody>
      </p:sp>
      <p:sp>
        <p:nvSpPr>
          <p:cNvPr id="173" name="Google Shape;173;g383dbfc32e9_4_101"/>
          <p:cNvSpPr txBox="1"/>
          <p:nvPr/>
        </p:nvSpPr>
        <p:spPr>
          <a:xfrm>
            <a:off x="4391400" y="1371925"/>
            <a:ext cx="4402800" cy="9234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b="1">
                <a:solidFill>
                  <a:schemeClr val="dk1"/>
                </a:solidFill>
                <a:latin typeface="Rubik"/>
                <a:ea typeface="Rubik"/>
                <a:cs typeface="Rubik"/>
                <a:sym typeface="Rubik"/>
              </a:rPr>
              <a:t>kota :</a:t>
            </a:r>
            <a:r>
              <a:rPr lang="en" sz="1200">
                <a:solidFill>
                  <a:schemeClr val="dk1"/>
                </a:solidFill>
                <a:latin typeface="Rubik"/>
                <a:ea typeface="Rubik"/>
                <a:cs typeface="Rubik"/>
                <a:sym typeface="Rubik"/>
              </a:rPr>
              <a:t> kota lokasi cabang.</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None/>
            </a:pPr>
            <a:r>
              <a:rPr lang="en" sz="1200" b="1">
                <a:solidFill>
                  <a:schemeClr val="dk1"/>
                </a:solidFill>
                <a:latin typeface="Rubik"/>
                <a:ea typeface="Rubik"/>
                <a:cs typeface="Rubik"/>
                <a:sym typeface="Rubik"/>
              </a:rPr>
              <a:t>provinsi : </a:t>
            </a:r>
            <a:r>
              <a:rPr lang="en" sz="1200">
                <a:solidFill>
                  <a:schemeClr val="dk1"/>
                </a:solidFill>
                <a:latin typeface="Rubik"/>
                <a:ea typeface="Rubik"/>
                <a:cs typeface="Rubik"/>
                <a:sym typeface="Rubik"/>
              </a:rPr>
              <a:t>provinsi lokasi cabang.</a:t>
            </a:r>
            <a:endParaRPr sz="1200">
              <a:solidFill>
                <a:schemeClr val="dk1"/>
              </a:solidFill>
              <a:latin typeface="Rubik"/>
              <a:ea typeface="Rubik"/>
              <a:cs typeface="Rubik"/>
              <a:sym typeface="Rubik"/>
            </a:endParaRPr>
          </a:p>
          <a:p>
            <a:pPr marL="0" lvl="0" indent="0" algn="l" rtl="0">
              <a:lnSpc>
                <a:spcPct val="150000"/>
              </a:lnSpc>
              <a:spcBef>
                <a:spcPts val="0"/>
              </a:spcBef>
              <a:spcAft>
                <a:spcPts val="0"/>
              </a:spcAft>
              <a:buNone/>
            </a:pPr>
            <a:r>
              <a:rPr lang="en" sz="1200" b="1">
                <a:solidFill>
                  <a:schemeClr val="dk1"/>
                </a:solidFill>
                <a:latin typeface="Rubik"/>
                <a:ea typeface="Rubik"/>
                <a:cs typeface="Rubik"/>
                <a:sym typeface="Rubik"/>
              </a:rPr>
              <a:t>rating :</a:t>
            </a:r>
            <a:r>
              <a:rPr lang="en" sz="1200">
                <a:solidFill>
                  <a:schemeClr val="dk1"/>
                </a:solidFill>
                <a:latin typeface="Rubik"/>
                <a:ea typeface="Rubik"/>
                <a:cs typeface="Rubik"/>
                <a:sym typeface="Rubik"/>
              </a:rPr>
              <a:t> penilaian konsumen terhadap cabang tersebut.</a:t>
            </a:r>
            <a:endParaRPr sz="1200">
              <a:solidFill>
                <a:schemeClr val="dk1"/>
              </a:solidFill>
              <a:latin typeface="Rubik"/>
              <a:ea typeface="Rubik"/>
              <a:cs typeface="Rubik"/>
              <a:sym typeface="Rubik"/>
            </a:endParaRPr>
          </a:p>
        </p:txBody>
      </p:sp>
      <p:sp>
        <p:nvSpPr>
          <p:cNvPr id="174" name="Google Shape;174;g383dbfc32e9_4_101"/>
          <p:cNvSpPr txBox="1"/>
          <p:nvPr/>
        </p:nvSpPr>
        <p:spPr>
          <a:xfrm>
            <a:off x="349800" y="809438"/>
            <a:ext cx="7997700" cy="646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chemeClr val="dk1"/>
                </a:solidFill>
                <a:latin typeface="Rubik"/>
                <a:ea typeface="Rubik"/>
                <a:cs typeface="Rubik"/>
                <a:sym typeface="Rubik"/>
              </a:rPr>
              <a:t>Merupakan dataset yang berisi informasi mengenai cabang Kimia Farma di berbagai wilayah. Terdiri dari beberapa kolom, di antaranya:</a:t>
            </a:r>
            <a:endParaRPr/>
          </a:p>
        </p:txBody>
      </p:sp>
      <p:pic>
        <p:nvPicPr>
          <p:cNvPr id="175" name="Google Shape;175;g383dbfc32e9_4_101"/>
          <p:cNvPicPr preferRelativeResize="0"/>
          <p:nvPr/>
        </p:nvPicPr>
        <p:blipFill>
          <a:blip r:embed="rId5">
            <a:alphaModFix/>
          </a:blip>
          <a:stretch>
            <a:fillRect/>
          </a:stretch>
        </p:blipFill>
        <p:spPr>
          <a:xfrm>
            <a:off x="933825" y="2655050"/>
            <a:ext cx="7276349" cy="2246455"/>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g383dbfc32e9_4_115"/>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81" name="Google Shape;181;g383dbfc32e9_4_115"/>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82" name="Google Shape;182;g383dbfc32e9_4_115"/>
          <p:cNvSpPr txBox="1"/>
          <p:nvPr/>
        </p:nvSpPr>
        <p:spPr>
          <a:xfrm>
            <a:off x="349800" y="309650"/>
            <a:ext cx="5487000" cy="4926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000" b="1">
                <a:latin typeface="Rubik"/>
                <a:ea typeface="Rubik"/>
                <a:cs typeface="Rubik"/>
                <a:sym typeface="Rubik"/>
              </a:rPr>
              <a:t>Table kf_product</a:t>
            </a:r>
            <a:endParaRPr sz="2000" b="1" i="0" u="none" strike="noStrike" cap="none">
              <a:solidFill>
                <a:srgbClr val="000000"/>
              </a:solidFill>
              <a:latin typeface="Rubik"/>
              <a:ea typeface="Rubik"/>
              <a:cs typeface="Rubik"/>
              <a:sym typeface="Rubik"/>
            </a:endParaRPr>
          </a:p>
        </p:txBody>
      </p:sp>
      <p:sp>
        <p:nvSpPr>
          <p:cNvPr id="183" name="Google Shape;183;g383dbfc32e9_4_115"/>
          <p:cNvSpPr txBox="1"/>
          <p:nvPr/>
        </p:nvSpPr>
        <p:spPr>
          <a:xfrm>
            <a:off x="349800" y="1324000"/>
            <a:ext cx="6610200" cy="11160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l" rtl="0">
              <a:lnSpc>
                <a:spcPct val="150000"/>
              </a:lnSpc>
              <a:spcBef>
                <a:spcPts val="0"/>
              </a:spcBef>
              <a:spcAft>
                <a:spcPts val="0"/>
              </a:spcAft>
              <a:buClr>
                <a:schemeClr val="dk1"/>
              </a:buClr>
              <a:buSzPts val="1100"/>
              <a:buFont typeface="Arial"/>
              <a:buNone/>
            </a:pPr>
            <a:r>
              <a:rPr lang="en" sz="1100" b="1">
                <a:solidFill>
                  <a:schemeClr val="dk1"/>
                </a:solidFill>
                <a:latin typeface="Rubik"/>
                <a:ea typeface="Rubik"/>
                <a:cs typeface="Rubik"/>
                <a:sym typeface="Rubik"/>
              </a:rPr>
              <a:t>product_id :</a:t>
            </a:r>
            <a:r>
              <a:rPr lang="en" sz="1100">
                <a:solidFill>
                  <a:schemeClr val="dk1"/>
                </a:solidFill>
                <a:latin typeface="Rubik"/>
                <a:ea typeface="Rubik"/>
                <a:cs typeface="Rubik"/>
                <a:sym typeface="Rubik"/>
              </a:rPr>
              <a:t> kode produk.</a:t>
            </a:r>
            <a:endParaRPr sz="11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100" b="1">
                <a:solidFill>
                  <a:schemeClr val="dk1"/>
                </a:solidFill>
                <a:latin typeface="Rubik"/>
                <a:ea typeface="Rubik"/>
                <a:cs typeface="Rubik"/>
                <a:sym typeface="Rubik"/>
              </a:rPr>
              <a:t>product_name : </a:t>
            </a:r>
            <a:r>
              <a:rPr lang="en" sz="1100">
                <a:solidFill>
                  <a:schemeClr val="dk1"/>
                </a:solidFill>
                <a:latin typeface="Rubik"/>
                <a:ea typeface="Rubik"/>
                <a:cs typeface="Rubik"/>
                <a:sym typeface="Rubik"/>
              </a:rPr>
              <a:t>nama produk.</a:t>
            </a:r>
            <a:endParaRPr sz="11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100" b="1">
                <a:solidFill>
                  <a:schemeClr val="dk1"/>
                </a:solidFill>
                <a:latin typeface="Rubik"/>
                <a:ea typeface="Rubik"/>
                <a:cs typeface="Rubik"/>
                <a:sym typeface="Rubik"/>
              </a:rPr>
              <a:t>product_category :</a:t>
            </a:r>
            <a:r>
              <a:rPr lang="en" sz="1100">
                <a:solidFill>
                  <a:schemeClr val="dk1"/>
                </a:solidFill>
                <a:latin typeface="Rubik"/>
                <a:ea typeface="Rubik"/>
                <a:cs typeface="Rubik"/>
                <a:sym typeface="Rubik"/>
              </a:rPr>
              <a:t> kategori produk (misalnya obat generik, herbal, alat kesehatan).</a:t>
            </a:r>
            <a:endParaRPr sz="1100">
              <a:solidFill>
                <a:schemeClr val="dk1"/>
              </a:solidFill>
              <a:latin typeface="Rubik"/>
              <a:ea typeface="Rubik"/>
              <a:cs typeface="Rubik"/>
              <a:sym typeface="Rubik"/>
            </a:endParaRPr>
          </a:p>
          <a:p>
            <a:pPr marL="0" lvl="0" indent="0" algn="l" rtl="0">
              <a:lnSpc>
                <a:spcPct val="150000"/>
              </a:lnSpc>
              <a:spcBef>
                <a:spcPts val="0"/>
              </a:spcBef>
              <a:spcAft>
                <a:spcPts val="0"/>
              </a:spcAft>
              <a:buClr>
                <a:schemeClr val="dk1"/>
              </a:buClr>
              <a:buSzPts val="1100"/>
              <a:buFont typeface="Arial"/>
              <a:buNone/>
            </a:pPr>
            <a:r>
              <a:rPr lang="en" sz="1100" b="1">
                <a:solidFill>
                  <a:schemeClr val="dk1"/>
                </a:solidFill>
                <a:latin typeface="Rubik"/>
                <a:ea typeface="Rubik"/>
                <a:cs typeface="Rubik"/>
                <a:sym typeface="Rubik"/>
              </a:rPr>
              <a:t>price :</a:t>
            </a:r>
            <a:r>
              <a:rPr lang="en" sz="1100">
                <a:solidFill>
                  <a:schemeClr val="dk1"/>
                </a:solidFill>
                <a:latin typeface="Rubik"/>
                <a:ea typeface="Rubik"/>
                <a:cs typeface="Rubik"/>
                <a:sym typeface="Rubik"/>
              </a:rPr>
              <a:t> harga produk.</a:t>
            </a:r>
            <a:endParaRPr sz="1100">
              <a:solidFill>
                <a:schemeClr val="dk1"/>
              </a:solidFill>
              <a:latin typeface="Rubik"/>
              <a:ea typeface="Rubik"/>
              <a:cs typeface="Rubik"/>
              <a:sym typeface="Rubik"/>
            </a:endParaRPr>
          </a:p>
        </p:txBody>
      </p:sp>
      <p:sp>
        <p:nvSpPr>
          <p:cNvPr id="184" name="Google Shape;184;g383dbfc32e9_4_115"/>
          <p:cNvSpPr txBox="1"/>
          <p:nvPr/>
        </p:nvSpPr>
        <p:spPr>
          <a:xfrm>
            <a:off x="349800" y="891950"/>
            <a:ext cx="7997700" cy="369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chemeClr val="dk1"/>
                </a:solidFill>
                <a:latin typeface="Rubik"/>
                <a:ea typeface="Rubik"/>
                <a:cs typeface="Rubik"/>
                <a:sym typeface="Rubik"/>
              </a:rPr>
              <a:t>Merupakan dataset yang berisi informasi detail produk Kimia Farma. Terdiri dari beberapa kolom, di antaranya:</a:t>
            </a:r>
            <a:endParaRPr/>
          </a:p>
        </p:txBody>
      </p:sp>
      <p:pic>
        <p:nvPicPr>
          <p:cNvPr id="185" name="Google Shape;185;g383dbfc32e9_4_115"/>
          <p:cNvPicPr preferRelativeResize="0"/>
          <p:nvPr/>
        </p:nvPicPr>
        <p:blipFill>
          <a:blip r:embed="rId5">
            <a:alphaModFix/>
          </a:blip>
          <a:stretch>
            <a:fillRect/>
          </a:stretch>
        </p:blipFill>
        <p:spPr>
          <a:xfrm>
            <a:off x="628625" y="2571750"/>
            <a:ext cx="7440050" cy="2205000"/>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g23ec2985a68_1_49"/>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191" name="Google Shape;191;g23ec2985a68_1_49"/>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192" name="Google Shape;192;g23ec2985a68_1_49"/>
          <p:cNvSpPr txBox="1"/>
          <p:nvPr/>
        </p:nvSpPr>
        <p:spPr>
          <a:xfrm>
            <a:off x="340500" y="254688"/>
            <a:ext cx="8463000" cy="600300"/>
          </a:xfrm>
          <a:prstGeom prst="rect">
            <a:avLst/>
          </a:prstGeom>
          <a:noFill/>
          <a:ln>
            <a:noFill/>
          </a:ln>
          <a:effectLst>
            <a:outerShdw blurRad="57150" dist="19050" dir="2820000" algn="bl" rotWithShape="0">
              <a:srgbClr val="B7B7B7">
                <a:alpha val="85098"/>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700" b="1" i="0" u="none" strike="noStrike" cap="none">
                <a:solidFill>
                  <a:srgbClr val="000000"/>
                </a:solidFill>
                <a:latin typeface="Rubik"/>
                <a:ea typeface="Rubik"/>
                <a:cs typeface="Rubik"/>
                <a:sym typeface="Rubik"/>
              </a:rPr>
              <a:t>BigQuery Syntax</a:t>
            </a:r>
            <a:endParaRPr sz="2700" b="1" i="0" u="none" strike="noStrike" cap="none">
              <a:solidFill>
                <a:srgbClr val="000000"/>
              </a:solidFill>
              <a:latin typeface="Rubik"/>
              <a:ea typeface="Rubik"/>
              <a:cs typeface="Rubik"/>
              <a:sym typeface="Rubik"/>
            </a:endParaRPr>
          </a:p>
        </p:txBody>
      </p:sp>
      <p:sp>
        <p:nvSpPr>
          <p:cNvPr id="193" name="Google Shape;193;g23ec2985a68_1_49"/>
          <p:cNvSpPr txBox="1"/>
          <p:nvPr/>
        </p:nvSpPr>
        <p:spPr>
          <a:xfrm>
            <a:off x="340500" y="855000"/>
            <a:ext cx="6439500" cy="4248300"/>
          </a:xfrm>
          <a:prstGeom prst="rect">
            <a:avLst/>
          </a:prstGeom>
          <a:no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800">
                <a:solidFill>
                  <a:srgbClr val="1967D2"/>
                </a:solidFill>
                <a:highlight>
                  <a:srgbClr val="FFFFFF"/>
                </a:highlight>
                <a:latin typeface="Roboto Mono"/>
                <a:ea typeface="Roboto Mono"/>
                <a:cs typeface="Roboto Mono"/>
                <a:sym typeface="Roboto Mono"/>
              </a:rPr>
              <a:t>SELECT</a:t>
            </a:r>
            <a:endParaRPr sz="800">
              <a:solidFill>
                <a:srgbClr val="1967D2"/>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final.transaction_id</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final.date</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kantor.branch_id</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kantor.branch_name</a:t>
            </a:r>
            <a:r>
              <a:rPr lang="en" sz="800">
                <a:solidFill>
                  <a:srgbClr val="202124"/>
                </a:solidFill>
                <a:highlight>
                  <a:srgbClr val="FFFFFF"/>
                </a:highlight>
                <a:latin typeface="Roboto Mono"/>
                <a:ea typeface="Roboto Mono"/>
                <a:cs typeface="Roboto Mono"/>
                <a:sym typeface="Roboto Mono"/>
              </a:rPr>
              <a:t>,</a:t>
            </a:r>
            <a:endParaRPr sz="800">
              <a:solidFill>
                <a:srgbClr val="202124"/>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kantor.kota</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kantor.provinsi</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kantor.rating</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AS</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rating_cabang</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final.customer_name</a:t>
            </a:r>
            <a:r>
              <a:rPr lang="en" sz="800">
                <a:solidFill>
                  <a:srgbClr val="202124"/>
                </a:solidFill>
                <a:highlight>
                  <a:srgbClr val="FFFFFF"/>
                </a:highlight>
                <a:latin typeface="Roboto Mono"/>
                <a:ea typeface="Roboto Mono"/>
                <a:cs typeface="Roboto Mono"/>
                <a:sym typeface="Roboto Mono"/>
              </a:rPr>
              <a:t>,</a:t>
            </a:r>
            <a:endParaRPr sz="800">
              <a:solidFill>
                <a:srgbClr val="202124"/>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product.product_id</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product.product_name</a:t>
            </a:r>
            <a:r>
              <a:rPr lang="en" sz="800">
                <a:solidFill>
                  <a:srgbClr val="202124"/>
                </a:solidFill>
                <a:highlight>
                  <a:srgbClr val="FFFFFF"/>
                </a:highlight>
                <a:latin typeface="Roboto Mono"/>
                <a:ea typeface="Roboto Mono"/>
                <a:cs typeface="Roboto Mono"/>
                <a:sym typeface="Roboto Mono"/>
              </a:rPr>
              <a:t>,</a:t>
            </a:r>
            <a:endParaRPr sz="800">
              <a:solidFill>
                <a:srgbClr val="202124"/>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product.price</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AS</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actual_price</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final.discount_percentage</a:t>
            </a:r>
            <a:r>
              <a:rPr lang="en" sz="800">
                <a:solidFill>
                  <a:srgbClr val="202124"/>
                </a:solidFill>
                <a:highlight>
                  <a:srgbClr val="FFFFFF"/>
                </a:highlight>
                <a:latin typeface="Roboto Mono"/>
                <a:ea typeface="Roboto Mono"/>
                <a:cs typeface="Roboto Mono"/>
                <a:sym typeface="Roboto Mono"/>
              </a:rPr>
              <a:t>,</a:t>
            </a:r>
            <a:endParaRPr sz="800">
              <a:solidFill>
                <a:srgbClr val="202124"/>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CASE</a:t>
            </a:r>
            <a:endParaRPr sz="800">
              <a:solidFill>
                <a:srgbClr val="1967D2"/>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WHEN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product.price</a:t>
            </a:r>
            <a:r>
              <a:rPr lang="en" sz="800">
                <a:solidFill>
                  <a:srgbClr val="202124"/>
                </a:solidFill>
                <a:highlight>
                  <a:srgbClr val="FFFFFF"/>
                </a:highlight>
                <a:latin typeface="Roboto Mono"/>
                <a:ea typeface="Roboto Mono"/>
                <a:cs typeface="Roboto Mono"/>
                <a:sym typeface="Roboto Mono"/>
              </a:rPr>
              <a:t> </a:t>
            </a:r>
            <a:r>
              <a:rPr lang="en" sz="800">
                <a:solidFill>
                  <a:srgbClr val="3C4043"/>
                </a:solidFill>
                <a:highlight>
                  <a:srgbClr val="FFFFFF"/>
                </a:highlight>
                <a:latin typeface="Roboto Mono"/>
                <a:ea typeface="Roboto Mono"/>
                <a:cs typeface="Roboto Mono"/>
                <a:sym typeface="Roboto Mono"/>
              </a:rPr>
              <a:t>&lt;=</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50000</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THEN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0.1</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WHEN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product.price</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BETWEEN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50001</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AND</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100000</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THEN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0.15</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WHEN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product.price</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BETWEEN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100001</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AND</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300000</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THEN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0.2</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WHEN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product.price</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BETWEEN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300001</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AND</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500000</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THEN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0.25</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ELSE</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0.3</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END</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AS</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persentase_gross_laba</a:t>
            </a:r>
            <a:r>
              <a:rPr lang="en" sz="800">
                <a:solidFill>
                  <a:srgbClr val="202124"/>
                </a:solidFill>
                <a:highlight>
                  <a:srgbClr val="FFFFFF"/>
                </a:highlight>
                <a:latin typeface="Roboto Mono"/>
                <a:ea typeface="Roboto Mono"/>
                <a:cs typeface="Roboto Mono"/>
                <a:sym typeface="Roboto Mono"/>
              </a:rPr>
              <a:t>,</a:t>
            </a:r>
            <a:endParaRPr sz="800">
              <a:solidFill>
                <a:srgbClr val="202124"/>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final.price</a:t>
            </a:r>
            <a:r>
              <a:rPr lang="en" sz="800">
                <a:solidFill>
                  <a:srgbClr val="202124"/>
                </a:solidFill>
                <a:highlight>
                  <a:srgbClr val="FFFFFF"/>
                </a:highlight>
                <a:latin typeface="Roboto Mono"/>
                <a:ea typeface="Roboto Mono"/>
                <a:cs typeface="Roboto Mono"/>
                <a:sym typeface="Roboto Mono"/>
              </a:rPr>
              <a:t> </a:t>
            </a:r>
            <a:r>
              <a:rPr lang="en" sz="800">
                <a:solidFill>
                  <a:srgbClr val="3C4043"/>
                </a:solidFill>
                <a:highlight>
                  <a:srgbClr val="FFFFFF"/>
                </a:highlight>
                <a:latin typeface="Roboto Mono"/>
                <a:ea typeface="Roboto Mono"/>
                <a:cs typeface="Roboto Mono"/>
                <a:sym typeface="Roboto Mono"/>
              </a:rPr>
              <a:t>*</a:t>
            </a:r>
            <a:r>
              <a:rPr lang="en" sz="800">
                <a:solidFill>
                  <a:srgbClr val="202124"/>
                </a:solidFill>
                <a:highlight>
                  <a:srgbClr val="FFFFFF"/>
                </a:highlight>
                <a:latin typeface="Roboto Mono"/>
                <a:ea typeface="Roboto Mono"/>
                <a:cs typeface="Roboto Mono"/>
                <a:sym typeface="Roboto Mono"/>
              </a:rPr>
              <a:t> </a:t>
            </a:r>
            <a:r>
              <a:rPr lang="en" sz="800">
                <a:solidFill>
                  <a:srgbClr val="3C4043"/>
                </a:solidFill>
                <a:highlight>
                  <a:srgbClr val="FFFFFF"/>
                </a:highlight>
                <a:latin typeface="Roboto Mono"/>
                <a:ea typeface="Roboto Mono"/>
                <a:cs typeface="Roboto Mono"/>
                <a:sym typeface="Roboto Mono"/>
              </a:rPr>
              <a:t>(</a:t>
            </a:r>
            <a:r>
              <a:rPr lang="en" sz="800">
                <a:solidFill>
                  <a:srgbClr val="B06000"/>
                </a:solidFill>
                <a:highlight>
                  <a:srgbClr val="FFFFFF"/>
                </a:highlight>
                <a:latin typeface="Roboto Mono"/>
                <a:ea typeface="Roboto Mono"/>
                <a:cs typeface="Roboto Mono"/>
                <a:sym typeface="Roboto Mono"/>
              </a:rPr>
              <a:t>1</a:t>
            </a:r>
            <a:r>
              <a:rPr lang="en" sz="800">
                <a:solidFill>
                  <a:srgbClr val="202124"/>
                </a:solidFill>
                <a:highlight>
                  <a:srgbClr val="FFFFFF"/>
                </a:highlight>
                <a:latin typeface="Roboto Mono"/>
                <a:ea typeface="Roboto Mono"/>
                <a:cs typeface="Roboto Mono"/>
                <a:sym typeface="Roboto Mono"/>
              </a:rPr>
              <a:t> </a:t>
            </a:r>
            <a:r>
              <a:rPr lang="en" sz="800">
                <a:solidFill>
                  <a:srgbClr val="3C4043"/>
                </a:solidFill>
                <a:highlight>
                  <a:srgbClr val="FFFFFF"/>
                </a:highlight>
                <a:latin typeface="Roboto Mono"/>
                <a:ea typeface="Roboto Mono"/>
                <a:cs typeface="Roboto Mono"/>
                <a:sym typeface="Roboto Mono"/>
              </a:rPr>
              <a:t>-</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final.discount_percentage</a:t>
            </a:r>
            <a:r>
              <a:rPr lang="en" sz="800">
                <a:solidFill>
                  <a:srgbClr val="3C4043"/>
                </a:solidFill>
                <a:highlight>
                  <a:srgbClr val="FFFFFF"/>
                </a:highlight>
                <a:latin typeface="Roboto Mono"/>
                <a:ea typeface="Roboto Mono"/>
                <a:cs typeface="Roboto Mono"/>
                <a:sym typeface="Roboto Mono"/>
              </a:rPr>
              <a:t>)</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AS</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nett_sales</a:t>
            </a:r>
            <a:r>
              <a:rPr lang="en" sz="800">
                <a:solidFill>
                  <a:srgbClr val="202124"/>
                </a:solidFill>
                <a:highlight>
                  <a:srgbClr val="FFFFFF"/>
                </a:highlight>
                <a:latin typeface="Roboto Mono"/>
                <a:ea typeface="Roboto Mono"/>
                <a:cs typeface="Roboto Mono"/>
                <a:sym typeface="Roboto Mono"/>
              </a:rPr>
              <a:t>,</a:t>
            </a:r>
            <a:endParaRPr sz="800">
              <a:solidFill>
                <a:srgbClr val="202124"/>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final.price</a:t>
            </a:r>
            <a:r>
              <a:rPr lang="en" sz="800">
                <a:solidFill>
                  <a:srgbClr val="202124"/>
                </a:solidFill>
                <a:highlight>
                  <a:srgbClr val="FFFFFF"/>
                </a:highlight>
                <a:latin typeface="Roboto Mono"/>
                <a:ea typeface="Roboto Mono"/>
                <a:cs typeface="Roboto Mono"/>
                <a:sym typeface="Roboto Mono"/>
              </a:rPr>
              <a:t> </a:t>
            </a:r>
            <a:r>
              <a:rPr lang="en" sz="800">
                <a:solidFill>
                  <a:srgbClr val="3C4043"/>
                </a:solidFill>
                <a:highlight>
                  <a:srgbClr val="FFFFFF"/>
                </a:highlight>
                <a:latin typeface="Roboto Mono"/>
                <a:ea typeface="Roboto Mono"/>
                <a:cs typeface="Roboto Mono"/>
                <a:sym typeface="Roboto Mono"/>
              </a:rPr>
              <a:t>*</a:t>
            </a:r>
            <a:r>
              <a:rPr lang="en" sz="800">
                <a:solidFill>
                  <a:srgbClr val="202124"/>
                </a:solidFill>
                <a:highlight>
                  <a:srgbClr val="FFFFFF"/>
                </a:highlight>
                <a:latin typeface="Roboto Mono"/>
                <a:ea typeface="Roboto Mono"/>
                <a:cs typeface="Roboto Mono"/>
                <a:sym typeface="Roboto Mono"/>
              </a:rPr>
              <a:t> </a:t>
            </a:r>
            <a:r>
              <a:rPr lang="en" sz="800">
                <a:solidFill>
                  <a:srgbClr val="3C4043"/>
                </a:solidFill>
                <a:highlight>
                  <a:srgbClr val="FFFFFF"/>
                </a:highlight>
                <a:latin typeface="Roboto Mono"/>
                <a:ea typeface="Roboto Mono"/>
                <a:cs typeface="Roboto Mono"/>
                <a:sym typeface="Roboto Mono"/>
              </a:rPr>
              <a:t>(</a:t>
            </a:r>
            <a:r>
              <a:rPr lang="en" sz="800">
                <a:solidFill>
                  <a:srgbClr val="B06000"/>
                </a:solidFill>
                <a:highlight>
                  <a:srgbClr val="FFFFFF"/>
                </a:highlight>
                <a:latin typeface="Roboto Mono"/>
                <a:ea typeface="Roboto Mono"/>
                <a:cs typeface="Roboto Mono"/>
                <a:sym typeface="Roboto Mono"/>
              </a:rPr>
              <a:t>1</a:t>
            </a:r>
            <a:r>
              <a:rPr lang="en" sz="800">
                <a:solidFill>
                  <a:srgbClr val="202124"/>
                </a:solidFill>
                <a:highlight>
                  <a:srgbClr val="FFFFFF"/>
                </a:highlight>
                <a:latin typeface="Roboto Mono"/>
                <a:ea typeface="Roboto Mono"/>
                <a:cs typeface="Roboto Mono"/>
                <a:sym typeface="Roboto Mono"/>
              </a:rPr>
              <a:t> </a:t>
            </a:r>
            <a:r>
              <a:rPr lang="en" sz="800">
                <a:solidFill>
                  <a:srgbClr val="3C4043"/>
                </a:solidFill>
                <a:highlight>
                  <a:srgbClr val="FFFFFF"/>
                </a:highlight>
                <a:latin typeface="Roboto Mono"/>
                <a:ea typeface="Roboto Mono"/>
                <a:cs typeface="Roboto Mono"/>
                <a:sym typeface="Roboto Mono"/>
              </a:rPr>
              <a:t>-</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final.discount_percentage</a:t>
            </a:r>
            <a:r>
              <a:rPr lang="en" sz="800">
                <a:solidFill>
                  <a:srgbClr val="3C4043"/>
                </a:solidFill>
                <a:highlight>
                  <a:srgbClr val="FFFFFF"/>
                </a:highlight>
                <a:latin typeface="Roboto Mono"/>
                <a:ea typeface="Roboto Mono"/>
                <a:cs typeface="Roboto Mono"/>
                <a:sym typeface="Roboto Mono"/>
              </a:rPr>
              <a:t>)</a:t>
            </a:r>
            <a:r>
              <a:rPr lang="en" sz="800">
                <a:solidFill>
                  <a:srgbClr val="202124"/>
                </a:solidFill>
                <a:highlight>
                  <a:srgbClr val="FFFFFF"/>
                </a:highlight>
                <a:latin typeface="Roboto Mono"/>
                <a:ea typeface="Roboto Mono"/>
                <a:cs typeface="Roboto Mono"/>
                <a:sym typeface="Roboto Mono"/>
              </a:rPr>
              <a:t> </a:t>
            </a:r>
            <a:r>
              <a:rPr lang="en" sz="800">
                <a:solidFill>
                  <a:srgbClr val="3C4043"/>
                </a:solidFill>
                <a:highlight>
                  <a:srgbClr val="FFFFFF"/>
                </a:highlight>
                <a:latin typeface="Roboto Mono"/>
                <a:ea typeface="Roboto Mono"/>
                <a:cs typeface="Roboto Mono"/>
                <a:sym typeface="Roboto Mono"/>
              </a:rPr>
              <a:t>*</a:t>
            </a:r>
            <a:endParaRPr sz="800">
              <a:solidFill>
                <a:srgbClr val="3C4043"/>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CASE</a:t>
            </a:r>
            <a:endParaRPr sz="800">
              <a:solidFill>
                <a:srgbClr val="1967D2"/>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WHEN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product.price</a:t>
            </a:r>
            <a:r>
              <a:rPr lang="en" sz="800">
                <a:solidFill>
                  <a:srgbClr val="202124"/>
                </a:solidFill>
                <a:highlight>
                  <a:srgbClr val="FFFFFF"/>
                </a:highlight>
                <a:latin typeface="Roboto Mono"/>
                <a:ea typeface="Roboto Mono"/>
                <a:cs typeface="Roboto Mono"/>
                <a:sym typeface="Roboto Mono"/>
              </a:rPr>
              <a:t> </a:t>
            </a:r>
            <a:r>
              <a:rPr lang="en" sz="800">
                <a:solidFill>
                  <a:srgbClr val="3C4043"/>
                </a:solidFill>
                <a:highlight>
                  <a:srgbClr val="FFFFFF"/>
                </a:highlight>
                <a:latin typeface="Roboto Mono"/>
                <a:ea typeface="Roboto Mono"/>
                <a:cs typeface="Roboto Mono"/>
                <a:sym typeface="Roboto Mono"/>
              </a:rPr>
              <a:t>&lt;=</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50000</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THEN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0.1</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WHEN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product.price</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BETWEEN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50001</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AND</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100000</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THEN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0.15</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WHEN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product.price</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BETWEEN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100001</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AND</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300000</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THEN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0.2</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WHEN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product.price</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BETWEEN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300001</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AND</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500000</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THEN</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0.25</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ELSE</a:t>
            </a:r>
            <a:r>
              <a:rPr lang="en" sz="800">
                <a:solidFill>
                  <a:srgbClr val="202124"/>
                </a:solidFill>
                <a:highlight>
                  <a:srgbClr val="FFFFFF"/>
                </a:highlight>
                <a:latin typeface="Roboto Mono"/>
                <a:ea typeface="Roboto Mono"/>
                <a:cs typeface="Roboto Mono"/>
                <a:sym typeface="Roboto Mono"/>
              </a:rPr>
              <a:t> </a:t>
            </a:r>
            <a:r>
              <a:rPr lang="en" sz="800">
                <a:solidFill>
                  <a:srgbClr val="B06000"/>
                </a:solidFill>
                <a:highlight>
                  <a:srgbClr val="FFFFFF"/>
                </a:highlight>
                <a:latin typeface="Roboto Mono"/>
                <a:ea typeface="Roboto Mono"/>
                <a:cs typeface="Roboto Mono"/>
                <a:sym typeface="Roboto Mono"/>
              </a:rPr>
              <a:t>0.3</a:t>
            </a:r>
            <a:endParaRPr sz="800">
              <a:solidFill>
                <a:srgbClr val="B06000"/>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END</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AS</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nett_profit</a:t>
            </a:r>
            <a:r>
              <a:rPr lang="en" sz="800">
                <a:solidFill>
                  <a:srgbClr val="202124"/>
                </a:solidFill>
                <a:highlight>
                  <a:srgbClr val="FFFFFF"/>
                </a:highlight>
                <a:latin typeface="Roboto Mono"/>
                <a:ea typeface="Roboto Mono"/>
                <a:cs typeface="Roboto Mono"/>
                <a:sym typeface="Roboto Mono"/>
              </a:rPr>
              <a:t>,</a:t>
            </a:r>
            <a:endParaRPr sz="800">
              <a:solidFill>
                <a:srgbClr val="202124"/>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final.rating</a:t>
            </a:r>
            <a:r>
              <a:rPr lang="en" sz="800">
                <a:solidFill>
                  <a:srgbClr val="202124"/>
                </a:solidFill>
                <a:highlight>
                  <a:srgbClr val="FFFFFF"/>
                </a:highlight>
                <a:latin typeface="Roboto Mono"/>
                <a:ea typeface="Roboto Mono"/>
                <a:cs typeface="Roboto Mono"/>
                <a:sym typeface="Roboto Mono"/>
              </a:rPr>
              <a:t> </a:t>
            </a:r>
            <a:r>
              <a:rPr lang="en" sz="800">
                <a:solidFill>
                  <a:srgbClr val="1967D2"/>
                </a:solidFill>
                <a:highlight>
                  <a:srgbClr val="FFFFFF"/>
                </a:highlight>
                <a:latin typeface="Roboto Mono"/>
                <a:ea typeface="Roboto Mono"/>
                <a:cs typeface="Roboto Mono"/>
                <a:sym typeface="Roboto Mono"/>
              </a:rPr>
              <a:t>AS</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rating_transaksi</a:t>
            </a:r>
            <a:endParaRPr sz="800">
              <a:solidFill>
                <a:schemeClr val="dk1"/>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1967D2"/>
                </a:solidFill>
                <a:highlight>
                  <a:srgbClr val="FFFFFF"/>
                </a:highlight>
                <a:latin typeface="Roboto Mono"/>
                <a:ea typeface="Roboto Mono"/>
                <a:cs typeface="Roboto Mono"/>
                <a:sym typeface="Roboto Mono"/>
              </a:rPr>
              <a:t>FROM</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`rakamin-472807.kimia_farma.kf_final_transaction`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final</a:t>
            </a:r>
            <a:endParaRPr sz="800">
              <a:solidFill>
                <a:schemeClr val="dk1"/>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1967D2"/>
                </a:solidFill>
                <a:highlight>
                  <a:srgbClr val="FFFFFF"/>
                </a:highlight>
                <a:latin typeface="Roboto Mono"/>
                <a:ea typeface="Roboto Mono"/>
                <a:cs typeface="Roboto Mono"/>
                <a:sym typeface="Roboto Mono"/>
              </a:rPr>
              <a:t>JOIN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`rakamin-472807.kimia_farma.kf_kantor_cabang`</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kantor </a:t>
            </a:r>
            <a:r>
              <a:rPr lang="en" sz="800">
                <a:solidFill>
                  <a:srgbClr val="1967D2"/>
                </a:solidFill>
                <a:highlight>
                  <a:srgbClr val="FFFFFF"/>
                </a:highlight>
                <a:latin typeface="Roboto Mono"/>
                <a:ea typeface="Roboto Mono"/>
                <a:cs typeface="Roboto Mono"/>
                <a:sym typeface="Roboto Mono"/>
              </a:rPr>
              <a:t>ON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kantor.branch_id</a:t>
            </a:r>
            <a:r>
              <a:rPr lang="en" sz="800">
                <a:solidFill>
                  <a:srgbClr val="202124"/>
                </a:solidFill>
                <a:highlight>
                  <a:srgbClr val="FFFFFF"/>
                </a:highlight>
                <a:latin typeface="Roboto Mono"/>
                <a:ea typeface="Roboto Mono"/>
                <a:cs typeface="Roboto Mono"/>
                <a:sym typeface="Roboto Mono"/>
              </a:rPr>
              <a:t> = </a:t>
            </a:r>
            <a:r>
              <a:rPr lang="en" sz="800">
                <a:solidFill>
                  <a:schemeClr val="dk1"/>
                </a:solidFill>
                <a:highlight>
                  <a:srgbClr val="FFFFFF"/>
                </a:highlight>
                <a:latin typeface="Roboto Mono"/>
                <a:ea typeface="Roboto Mono"/>
                <a:cs typeface="Roboto Mono"/>
                <a:sym typeface="Roboto Mono"/>
              </a:rPr>
              <a:t>final.branch_id</a:t>
            </a:r>
            <a:endParaRPr sz="800">
              <a:solidFill>
                <a:schemeClr val="dk1"/>
              </a:solidFill>
              <a:highlight>
                <a:srgbClr val="FFFFFF"/>
              </a:highlight>
              <a:latin typeface="Roboto Mono"/>
              <a:ea typeface="Roboto Mono"/>
              <a:cs typeface="Roboto Mono"/>
              <a:sym typeface="Roboto Mono"/>
            </a:endParaRPr>
          </a:p>
          <a:p>
            <a:pPr marL="0" lvl="0" indent="0" algn="l" rtl="0">
              <a:lnSpc>
                <a:spcPct val="133333"/>
              </a:lnSpc>
              <a:spcBef>
                <a:spcPts val="0"/>
              </a:spcBef>
              <a:spcAft>
                <a:spcPts val="0"/>
              </a:spcAft>
              <a:buNone/>
            </a:pPr>
            <a:r>
              <a:rPr lang="en" sz="800">
                <a:solidFill>
                  <a:srgbClr val="1967D2"/>
                </a:solidFill>
                <a:highlight>
                  <a:srgbClr val="FFFFFF"/>
                </a:highlight>
                <a:latin typeface="Roboto Mono"/>
                <a:ea typeface="Roboto Mono"/>
                <a:cs typeface="Roboto Mono"/>
                <a:sym typeface="Roboto Mono"/>
              </a:rPr>
              <a:t>JOIN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`rakamin-472807.kimia_farma.kf_product`</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 </a:t>
            </a:r>
            <a:r>
              <a:rPr lang="en" sz="800">
                <a:solidFill>
                  <a:srgbClr val="1967D2"/>
                </a:solidFill>
                <a:highlight>
                  <a:srgbClr val="FFFFFF"/>
                </a:highlight>
                <a:latin typeface="Roboto Mono"/>
                <a:ea typeface="Roboto Mono"/>
                <a:cs typeface="Roboto Mono"/>
                <a:sym typeface="Roboto Mono"/>
              </a:rPr>
              <a:t>ON</a:t>
            </a:r>
            <a:r>
              <a:rPr lang="en" sz="800">
                <a:solidFill>
                  <a:srgbClr val="202124"/>
                </a:solidFill>
                <a:highlight>
                  <a:srgbClr val="FFFFFF"/>
                </a:highlight>
                <a:latin typeface="Roboto Mono"/>
                <a:ea typeface="Roboto Mono"/>
                <a:cs typeface="Roboto Mono"/>
                <a:sym typeface="Roboto Mono"/>
              </a:rPr>
              <a:t> </a:t>
            </a:r>
            <a:r>
              <a:rPr lang="en" sz="800">
                <a:solidFill>
                  <a:schemeClr val="dk1"/>
                </a:solidFill>
                <a:highlight>
                  <a:srgbClr val="FFFFFF"/>
                </a:highlight>
                <a:latin typeface="Roboto Mono"/>
                <a:ea typeface="Roboto Mono"/>
                <a:cs typeface="Roboto Mono"/>
                <a:sym typeface="Roboto Mono"/>
              </a:rPr>
              <a:t>product.product_id</a:t>
            </a:r>
            <a:r>
              <a:rPr lang="en" sz="800">
                <a:solidFill>
                  <a:srgbClr val="202124"/>
                </a:solidFill>
                <a:highlight>
                  <a:srgbClr val="FFFFFF"/>
                </a:highlight>
                <a:latin typeface="Roboto Mono"/>
                <a:ea typeface="Roboto Mono"/>
                <a:cs typeface="Roboto Mono"/>
                <a:sym typeface="Roboto Mono"/>
              </a:rPr>
              <a:t> = </a:t>
            </a:r>
            <a:r>
              <a:rPr lang="en" sz="800">
                <a:solidFill>
                  <a:schemeClr val="dk1"/>
                </a:solidFill>
                <a:highlight>
                  <a:srgbClr val="FFFFFF"/>
                </a:highlight>
                <a:latin typeface="Roboto Mono"/>
                <a:ea typeface="Roboto Mono"/>
                <a:cs typeface="Roboto Mono"/>
                <a:sym typeface="Roboto Mono"/>
              </a:rPr>
              <a:t>final.product_id</a:t>
            </a:r>
            <a:r>
              <a:rPr lang="en" sz="800">
                <a:solidFill>
                  <a:srgbClr val="202124"/>
                </a:solidFill>
                <a:highlight>
                  <a:srgbClr val="FFFFFF"/>
                </a:highlight>
                <a:latin typeface="Roboto Mono"/>
                <a:ea typeface="Roboto Mono"/>
                <a:cs typeface="Roboto Mono"/>
                <a:sym typeface="Roboto Mono"/>
              </a:rPr>
              <a:t>;</a:t>
            </a:r>
            <a:endParaRPr sz="800">
              <a:solidFill>
                <a:srgbClr val="202124"/>
              </a:solidFill>
              <a:highlight>
                <a:srgbClr val="FFFFFF"/>
              </a:highlight>
              <a:latin typeface="Roboto Mono"/>
              <a:ea typeface="Roboto Mono"/>
              <a:cs typeface="Roboto Mono"/>
              <a:sym typeface="Roboto Mono"/>
            </a:endParaRPr>
          </a:p>
        </p:txBody>
      </p:sp>
      <p:sp>
        <p:nvSpPr>
          <p:cNvPr id="194" name="Google Shape;194;g23ec2985a68_1_49"/>
          <p:cNvSpPr txBox="1"/>
          <p:nvPr/>
        </p:nvSpPr>
        <p:spPr>
          <a:xfrm>
            <a:off x="5040000" y="2378850"/>
            <a:ext cx="3763500" cy="1200600"/>
          </a:xfrm>
          <a:prstGeom prst="rect">
            <a:avLst/>
          </a:prstGeom>
          <a:noFill/>
          <a:ln>
            <a:noFill/>
          </a:ln>
          <a:effectLst>
            <a:outerShdw blurRad="57150" dist="19050" dir="2820000" algn="bl" rotWithShape="0">
              <a:srgbClr val="B7B7B7">
                <a:alpha val="85098"/>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1200">
                <a:solidFill>
                  <a:schemeClr val="dk1"/>
                </a:solidFill>
                <a:latin typeface="Rubik"/>
                <a:ea typeface="Rubik"/>
                <a:cs typeface="Rubik"/>
                <a:sym typeface="Rubik"/>
              </a:rPr>
              <a:t>query ini bertujuan untuk menghasilkan </a:t>
            </a:r>
            <a:r>
              <a:rPr lang="en" sz="1200" b="1">
                <a:solidFill>
                  <a:schemeClr val="dk1"/>
                </a:solidFill>
                <a:latin typeface="Rubik"/>
                <a:ea typeface="Rubik"/>
                <a:cs typeface="Rubik"/>
                <a:sym typeface="Rubik"/>
              </a:rPr>
              <a:t>tabel analisa akhir</a:t>
            </a:r>
            <a:r>
              <a:rPr lang="en" sz="1200">
                <a:solidFill>
                  <a:schemeClr val="dk1"/>
                </a:solidFill>
                <a:latin typeface="Rubik"/>
                <a:ea typeface="Rubik"/>
                <a:cs typeface="Rubik"/>
                <a:sym typeface="Rubik"/>
              </a:rPr>
              <a:t> yang berisi informasi transaksi, detail produk, lokasi cabang, hingga perhitungan penjualan dan keuntungan bersih.</a:t>
            </a:r>
            <a:endParaRPr sz="2000" b="0" i="0" u="none" strike="noStrike" cap="none">
              <a:solidFill>
                <a:srgbClr val="000000"/>
              </a:solidFill>
              <a:latin typeface="Rubik"/>
              <a:ea typeface="Rubik"/>
              <a:cs typeface="Rubik"/>
              <a:sym typeface="Rubik"/>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g23ec2985a68_1_42"/>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200" name="Google Shape;200;g23ec2985a68_1_42"/>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201" name="Google Shape;201;g23ec2985a68_1_42"/>
          <p:cNvSpPr txBox="1"/>
          <p:nvPr/>
        </p:nvSpPr>
        <p:spPr>
          <a:xfrm>
            <a:off x="340500" y="452038"/>
            <a:ext cx="8463000" cy="600300"/>
          </a:xfrm>
          <a:prstGeom prst="rect">
            <a:avLst/>
          </a:prstGeom>
          <a:noFill/>
          <a:ln>
            <a:noFill/>
          </a:ln>
          <a:effectLst>
            <a:outerShdw blurRad="57150" dist="19050" dir="2820000" algn="bl" rotWithShape="0">
              <a:srgbClr val="B7B7B7">
                <a:alpha val="85098"/>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700" b="1">
                <a:latin typeface="Rubik"/>
                <a:ea typeface="Rubik"/>
                <a:cs typeface="Rubik"/>
                <a:sym typeface="Rubik"/>
              </a:rPr>
              <a:t>Hasil </a:t>
            </a:r>
            <a:r>
              <a:rPr lang="en" sz="2700" b="1" i="0" u="none" strike="noStrike" cap="none">
                <a:solidFill>
                  <a:srgbClr val="000000"/>
                </a:solidFill>
                <a:latin typeface="Rubik"/>
                <a:ea typeface="Rubik"/>
                <a:cs typeface="Rubik"/>
                <a:sym typeface="Rubik"/>
              </a:rPr>
              <a:t>Tabel Analisa</a:t>
            </a:r>
            <a:endParaRPr sz="2700" b="1" i="0" u="none" strike="noStrike" cap="none">
              <a:solidFill>
                <a:srgbClr val="000000"/>
              </a:solidFill>
              <a:latin typeface="Rubik"/>
              <a:ea typeface="Rubik"/>
              <a:cs typeface="Rubik"/>
              <a:sym typeface="Rubik"/>
            </a:endParaRPr>
          </a:p>
        </p:txBody>
      </p:sp>
      <p:sp>
        <p:nvSpPr>
          <p:cNvPr id="202" name="Google Shape;202;g23ec2985a68_1_42"/>
          <p:cNvSpPr txBox="1"/>
          <p:nvPr/>
        </p:nvSpPr>
        <p:spPr>
          <a:xfrm>
            <a:off x="340500" y="1335962"/>
            <a:ext cx="8463000" cy="492600"/>
          </a:xfrm>
          <a:prstGeom prst="rect">
            <a:avLst/>
          </a:prstGeom>
          <a:noFill/>
          <a:ln>
            <a:noFill/>
          </a:ln>
          <a:effectLst>
            <a:outerShdw blurRad="57150" dist="19050" dir="2820000" algn="bl" rotWithShape="0">
              <a:srgbClr val="B7B7B7">
                <a:alpha val="85098"/>
              </a:srgbClr>
            </a:outerShdw>
          </a:effectLst>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400"/>
              <a:buFont typeface="Arial"/>
              <a:buNone/>
            </a:pPr>
            <a:endParaRPr sz="2000" b="0" i="0" u="none" strike="noStrike" cap="none">
              <a:solidFill>
                <a:srgbClr val="000000"/>
              </a:solidFill>
              <a:latin typeface="Rubik"/>
              <a:ea typeface="Rubik"/>
              <a:cs typeface="Rubik"/>
              <a:sym typeface="Rubik"/>
            </a:endParaRPr>
          </a:p>
        </p:txBody>
      </p:sp>
      <p:pic>
        <p:nvPicPr>
          <p:cNvPr id="203" name="Google Shape;203;g23ec2985a68_1_42"/>
          <p:cNvPicPr preferRelativeResize="0"/>
          <p:nvPr/>
        </p:nvPicPr>
        <p:blipFill>
          <a:blip r:embed="rId5">
            <a:alphaModFix/>
          </a:blip>
          <a:stretch>
            <a:fillRect/>
          </a:stretch>
        </p:blipFill>
        <p:spPr>
          <a:xfrm>
            <a:off x="5383075" y="1052350"/>
            <a:ext cx="2919425" cy="3794001"/>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sp>
        <p:nvSpPr>
          <p:cNvPr id="204" name="Google Shape;204;g23ec2985a68_1_42"/>
          <p:cNvSpPr txBox="1"/>
          <p:nvPr/>
        </p:nvSpPr>
        <p:spPr>
          <a:xfrm>
            <a:off x="340500" y="1643450"/>
            <a:ext cx="4662000" cy="20319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1200">
                <a:solidFill>
                  <a:schemeClr val="dk1"/>
                </a:solidFill>
                <a:latin typeface="Rubik"/>
                <a:ea typeface="Rubik"/>
                <a:cs typeface="Rubik"/>
                <a:sym typeface="Rubik"/>
              </a:rPr>
              <a:t>Tabel analisa ini merupakan hasil penggabungan data transaksi, produk, dan cabang di BigQuery. Kolom di dalamnya mencakup detail transaksi, informasi cabang, serta perhitungan tambahan seperti nett sales, nett profit, dan persentase gross laba. Tabel ini menjadi dasar utama untuk visualisasi dan analisis performa bisnis Kimia Farma 2020–2023.</a:t>
            </a:r>
            <a:endParaRPr sz="2000" b="0" i="0" u="none" strike="noStrike" cap="none">
              <a:solidFill>
                <a:srgbClr val="000000"/>
              </a:solidFill>
              <a:latin typeface="Rubik"/>
              <a:ea typeface="Rubik"/>
              <a:cs typeface="Rubik"/>
              <a:sym typeface="Rubik"/>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g23ec2985a68_1_56"/>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210" name="Google Shape;210;g23ec2985a68_1_56"/>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
        <p:nvSpPr>
          <p:cNvPr id="211" name="Google Shape;211;g23ec2985a68_1_56"/>
          <p:cNvSpPr txBox="1"/>
          <p:nvPr/>
        </p:nvSpPr>
        <p:spPr>
          <a:xfrm>
            <a:off x="340500" y="185613"/>
            <a:ext cx="8463000" cy="600300"/>
          </a:xfrm>
          <a:prstGeom prst="rect">
            <a:avLst/>
          </a:prstGeom>
          <a:noFill/>
          <a:ln>
            <a:noFill/>
          </a:ln>
          <a:effectLst>
            <a:outerShdw blurRad="57150" dist="19050" dir="2820000" algn="bl" rotWithShape="0">
              <a:srgbClr val="B7B7B7">
                <a:alpha val="85098"/>
              </a:srgbClr>
            </a:outerShdw>
          </a:effectLst>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2700" b="1" i="0" u="none" strike="noStrike" cap="none">
                <a:solidFill>
                  <a:srgbClr val="000000"/>
                </a:solidFill>
                <a:latin typeface="Rubik"/>
                <a:ea typeface="Rubik"/>
                <a:cs typeface="Rubik"/>
                <a:sym typeface="Rubik"/>
              </a:rPr>
              <a:t>Dashboard  Performance Analytics</a:t>
            </a:r>
            <a:endParaRPr sz="2700" b="1" i="0" u="none" strike="noStrike" cap="none">
              <a:solidFill>
                <a:srgbClr val="000000"/>
              </a:solidFill>
              <a:latin typeface="Rubik"/>
              <a:ea typeface="Rubik"/>
              <a:cs typeface="Rubik"/>
              <a:sym typeface="Rubik"/>
            </a:endParaRPr>
          </a:p>
        </p:txBody>
      </p:sp>
      <p:sp>
        <p:nvSpPr>
          <p:cNvPr id="212" name="Google Shape;212;g23ec2985a68_1_56"/>
          <p:cNvSpPr txBox="1"/>
          <p:nvPr/>
        </p:nvSpPr>
        <p:spPr>
          <a:xfrm>
            <a:off x="340500" y="726937"/>
            <a:ext cx="8463000" cy="338700"/>
          </a:xfrm>
          <a:prstGeom prst="rect">
            <a:avLst/>
          </a:prstGeom>
          <a:noFill/>
          <a:ln>
            <a:noFill/>
          </a:ln>
          <a:effectLst>
            <a:outerShdw blurRad="57150" dist="19050" dir="2820000" algn="bl" rotWithShape="0">
              <a:srgbClr val="B7B7B7">
                <a:alpha val="85098"/>
              </a:srgbClr>
            </a:outerShdw>
          </a:effectLst>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400"/>
              <a:buFont typeface="Arial"/>
              <a:buNone/>
            </a:pPr>
            <a:r>
              <a:rPr lang="en" sz="1000">
                <a:solidFill>
                  <a:schemeClr val="dk1"/>
                </a:solidFill>
                <a:latin typeface="Rubik"/>
                <a:ea typeface="Rubik"/>
                <a:cs typeface="Rubik"/>
                <a:sym typeface="Rubik"/>
              </a:rPr>
              <a:t>Berikut Dashboard yang telah dibuat berdasarkan data yang digunakan. Untuk mengakses dashboard tersebut, bisa klik </a:t>
            </a:r>
            <a:r>
              <a:rPr lang="en" sz="1000" b="1">
                <a:solidFill>
                  <a:schemeClr val="dk1"/>
                </a:solidFill>
                <a:latin typeface="Rubik"/>
                <a:ea typeface="Rubik"/>
                <a:cs typeface="Rubik"/>
                <a:sym typeface="Rubik"/>
              </a:rPr>
              <a:t>tautan ini</a:t>
            </a:r>
            <a:endParaRPr sz="1000" b="1">
              <a:solidFill>
                <a:schemeClr val="dk1"/>
              </a:solidFill>
              <a:latin typeface="Rubik"/>
              <a:ea typeface="Rubik"/>
              <a:cs typeface="Rubik"/>
              <a:sym typeface="Rubik"/>
            </a:endParaRPr>
          </a:p>
        </p:txBody>
      </p:sp>
      <p:pic>
        <p:nvPicPr>
          <p:cNvPr id="213" name="Google Shape;213;g23ec2985a68_1_56" title="Kimia_Farma_Perfomance_Analysis (1)_page-0001.jpg"/>
          <p:cNvPicPr preferRelativeResize="0"/>
          <p:nvPr/>
        </p:nvPicPr>
        <p:blipFill>
          <a:blip r:embed="rId5">
            <a:alphaModFix/>
          </a:blip>
          <a:stretch>
            <a:fillRect/>
          </a:stretch>
        </p:blipFill>
        <p:spPr>
          <a:xfrm>
            <a:off x="1973362" y="1065625"/>
            <a:ext cx="5197276" cy="3897949"/>
          </a:xfrm>
          <a:prstGeom prst="rect">
            <a:avLst/>
          </a:prstGeom>
          <a:noFill/>
          <a:ln w="9525" cap="flat" cmpd="sng">
            <a:solidFill>
              <a:schemeClr val="dk2"/>
            </a:solidFill>
            <a:prstDash val="solid"/>
            <a:round/>
            <a:headEnd type="none" w="sm" len="sm"/>
            <a:tailEnd type="none" w="sm" len="sm"/>
          </a:ln>
        </p:spPr>
      </p:pic>
      <p:sp>
        <p:nvSpPr>
          <p:cNvPr id="214" name="Google Shape;214;g23ec2985a68_1_56"/>
          <p:cNvSpPr txBox="1"/>
          <p:nvPr/>
        </p:nvSpPr>
        <p:spPr>
          <a:xfrm>
            <a:off x="298875" y="2571750"/>
            <a:ext cx="1635900" cy="6465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n" sz="1200" b="1" u="sng">
                <a:solidFill>
                  <a:schemeClr val="hlink"/>
                </a:solidFill>
                <a:latin typeface="Rubik"/>
                <a:ea typeface="Rubik"/>
                <a:cs typeface="Rubik"/>
                <a:sym typeface="Rubik"/>
                <a:hlinkClick r:id="rId6"/>
              </a:rPr>
              <a:t>Looker Dashboard Link</a:t>
            </a:r>
            <a:endParaRPr sz="1200" b="1">
              <a:solidFill>
                <a:srgbClr val="FF0000"/>
              </a:solidFill>
              <a:latin typeface="Rubik"/>
              <a:ea typeface="Rubik"/>
              <a:cs typeface="Rubik"/>
              <a:sym typeface="Rubik"/>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g383dbfc32e9_4_138"/>
          <p:cNvPicPr preferRelativeResize="0"/>
          <p:nvPr/>
        </p:nvPicPr>
        <p:blipFill rotWithShape="1">
          <a:blip r:embed="rId3">
            <a:alphaModFix amt="10000"/>
          </a:blip>
          <a:srcRect/>
          <a:stretch/>
        </p:blipFill>
        <p:spPr>
          <a:xfrm>
            <a:off x="0" y="0"/>
            <a:ext cx="9144001" cy="5143501"/>
          </a:xfrm>
          <a:prstGeom prst="rect">
            <a:avLst/>
          </a:prstGeom>
          <a:noFill/>
          <a:ln>
            <a:noFill/>
          </a:ln>
        </p:spPr>
      </p:pic>
      <p:sp>
        <p:nvSpPr>
          <p:cNvPr id="220" name="Google Shape;220;g383dbfc32e9_4_138"/>
          <p:cNvSpPr txBox="1"/>
          <p:nvPr/>
        </p:nvSpPr>
        <p:spPr>
          <a:xfrm>
            <a:off x="340500" y="231463"/>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700" b="1">
                <a:solidFill>
                  <a:schemeClr val="dk1"/>
                </a:solidFill>
                <a:latin typeface="Rubik"/>
                <a:ea typeface="Rubik"/>
                <a:cs typeface="Rubik"/>
                <a:sym typeface="Rubik"/>
              </a:rPr>
              <a:t>Dashboard  Performance Analytics</a:t>
            </a:r>
            <a:endParaRPr sz="3000" b="1">
              <a:latin typeface="Rubik"/>
              <a:ea typeface="Rubik"/>
              <a:cs typeface="Rubik"/>
              <a:sym typeface="Rubik"/>
            </a:endParaRPr>
          </a:p>
        </p:txBody>
      </p:sp>
      <p:pic>
        <p:nvPicPr>
          <p:cNvPr id="221" name="Google Shape;221;g383dbfc32e9_4_138"/>
          <p:cNvPicPr preferRelativeResize="0"/>
          <p:nvPr/>
        </p:nvPicPr>
        <p:blipFill>
          <a:blip r:embed="rId4">
            <a:alphaModFix/>
          </a:blip>
          <a:stretch>
            <a:fillRect/>
          </a:stretch>
        </p:blipFill>
        <p:spPr>
          <a:xfrm>
            <a:off x="731075" y="1276075"/>
            <a:ext cx="5149274" cy="775150"/>
          </a:xfrm>
          <a:prstGeom prst="rect">
            <a:avLst/>
          </a:prstGeom>
          <a:noFill/>
          <a:ln w="9525" cap="flat" cmpd="sng">
            <a:solidFill>
              <a:schemeClr val="dk2"/>
            </a:solidFill>
            <a:prstDash val="solid"/>
            <a:round/>
            <a:headEnd type="none" w="sm" len="sm"/>
            <a:tailEnd type="none" w="sm" len="sm"/>
          </a:ln>
        </p:spPr>
      </p:pic>
      <p:pic>
        <p:nvPicPr>
          <p:cNvPr id="222" name="Google Shape;222;g383dbfc32e9_4_138"/>
          <p:cNvPicPr preferRelativeResize="0"/>
          <p:nvPr/>
        </p:nvPicPr>
        <p:blipFill>
          <a:blip r:embed="rId5">
            <a:alphaModFix/>
          </a:blip>
          <a:stretch>
            <a:fillRect/>
          </a:stretch>
        </p:blipFill>
        <p:spPr>
          <a:xfrm>
            <a:off x="731075" y="3088323"/>
            <a:ext cx="4136624" cy="888650"/>
          </a:xfrm>
          <a:prstGeom prst="rect">
            <a:avLst/>
          </a:prstGeom>
          <a:noFill/>
          <a:ln w="9525" cap="flat" cmpd="sng">
            <a:solidFill>
              <a:schemeClr val="dk2"/>
            </a:solidFill>
            <a:prstDash val="solid"/>
            <a:round/>
            <a:headEnd type="none" w="sm" len="sm"/>
            <a:tailEnd type="none" w="sm" len="sm"/>
          </a:ln>
        </p:spPr>
      </p:pic>
      <p:pic>
        <p:nvPicPr>
          <p:cNvPr id="223" name="Google Shape;223;g383dbfc32e9_4_138"/>
          <p:cNvPicPr preferRelativeResize="0"/>
          <p:nvPr/>
        </p:nvPicPr>
        <p:blipFill rotWithShape="1">
          <a:blip r:embed="rId6">
            <a:alphaModFix/>
          </a:blip>
          <a:srcRect t="5658" b="5649"/>
          <a:stretch/>
        </p:blipFill>
        <p:spPr>
          <a:xfrm>
            <a:off x="7317600" y="185625"/>
            <a:ext cx="1399902" cy="541300"/>
          </a:xfrm>
          <a:prstGeom prst="rect">
            <a:avLst/>
          </a:prstGeom>
          <a:noFill/>
          <a:ln>
            <a:noFill/>
          </a:ln>
        </p:spPr>
      </p:pic>
      <p:sp>
        <p:nvSpPr>
          <p:cNvPr id="224" name="Google Shape;224;g383dbfc32e9_4_138"/>
          <p:cNvSpPr txBox="1"/>
          <p:nvPr/>
        </p:nvSpPr>
        <p:spPr>
          <a:xfrm>
            <a:off x="644550" y="2112588"/>
            <a:ext cx="7854900" cy="7389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Ringkasan ini menampilkan kinerja utama Kimia Farma pada periode 2020–2023. Total Net Sales tercatat sebesar Rp321,2 miliar dengan Net Profit mencapai Rp91,2 miliar. Jumlah transaksi selama periode tersebut adalah 672,5 ribu dengan rata-rata rating transaksi 3,5. Informasi ini memberikan gambaran umum tentang performa bisnis perusahaan.</a:t>
            </a:r>
            <a:endParaRPr sz="900" b="0" i="0" u="none" strike="noStrike" cap="none">
              <a:solidFill>
                <a:srgbClr val="000000"/>
              </a:solidFill>
              <a:latin typeface="Rubik"/>
              <a:ea typeface="Rubik"/>
              <a:cs typeface="Rubik"/>
              <a:sym typeface="Rubik"/>
            </a:endParaRPr>
          </a:p>
        </p:txBody>
      </p:sp>
      <p:sp>
        <p:nvSpPr>
          <p:cNvPr id="225" name="Google Shape;225;g383dbfc32e9_4_138"/>
          <p:cNvSpPr txBox="1"/>
          <p:nvPr/>
        </p:nvSpPr>
        <p:spPr>
          <a:xfrm>
            <a:off x="644550" y="3976975"/>
            <a:ext cx="7854900" cy="5310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Filter bar digunakan untuk mempermudah analisis data. Pengguna dapat memfilter informasi berdasarkan tahun, cabang, kota, maupun provinsi, sehingga dashboard menjadi lebih interaktif dan dapat menampilkan insight spesifik sesuai kebutuhan analisis.</a:t>
            </a:r>
            <a:endParaRPr sz="900" b="0" i="0" u="none" strike="noStrike" cap="none">
              <a:solidFill>
                <a:srgbClr val="000000"/>
              </a:solidFill>
              <a:latin typeface="Rubik"/>
              <a:ea typeface="Rubik"/>
              <a:cs typeface="Rubik"/>
              <a:sym typeface="Rubik"/>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g383dbfc32e9_4_159"/>
          <p:cNvPicPr preferRelativeResize="0"/>
          <p:nvPr/>
        </p:nvPicPr>
        <p:blipFill rotWithShape="1">
          <a:blip r:embed="rId3">
            <a:alphaModFix amt="10000"/>
          </a:blip>
          <a:srcRect/>
          <a:stretch/>
        </p:blipFill>
        <p:spPr>
          <a:xfrm>
            <a:off x="0" y="0"/>
            <a:ext cx="9144001" cy="5143501"/>
          </a:xfrm>
          <a:prstGeom prst="rect">
            <a:avLst/>
          </a:prstGeom>
          <a:noFill/>
          <a:ln>
            <a:noFill/>
          </a:ln>
        </p:spPr>
      </p:pic>
      <p:sp>
        <p:nvSpPr>
          <p:cNvPr id="231" name="Google Shape;231;g383dbfc32e9_4_159"/>
          <p:cNvSpPr txBox="1"/>
          <p:nvPr/>
        </p:nvSpPr>
        <p:spPr>
          <a:xfrm>
            <a:off x="340500" y="185613"/>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700" b="1">
                <a:solidFill>
                  <a:schemeClr val="dk1"/>
                </a:solidFill>
                <a:latin typeface="Rubik"/>
                <a:ea typeface="Rubik"/>
                <a:cs typeface="Rubik"/>
                <a:sym typeface="Rubik"/>
              </a:rPr>
              <a:t>Dashboard  Performance Analytics</a:t>
            </a:r>
            <a:endParaRPr sz="3000" b="1">
              <a:latin typeface="Rubik"/>
              <a:ea typeface="Rubik"/>
              <a:cs typeface="Rubik"/>
              <a:sym typeface="Rubik"/>
            </a:endParaRPr>
          </a:p>
        </p:txBody>
      </p:sp>
      <p:pic>
        <p:nvPicPr>
          <p:cNvPr id="232" name="Google Shape;232;g383dbfc32e9_4_159"/>
          <p:cNvPicPr preferRelativeResize="0"/>
          <p:nvPr/>
        </p:nvPicPr>
        <p:blipFill>
          <a:blip r:embed="rId4">
            <a:alphaModFix/>
          </a:blip>
          <a:stretch>
            <a:fillRect/>
          </a:stretch>
        </p:blipFill>
        <p:spPr>
          <a:xfrm>
            <a:off x="753988" y="1082835"/>
            <a:ext cx="3226025" cy="2206025"/>
          </a:xfrm>
          <a:prstGeom prst="rect">
            <a:avLst/>
          </a:prstGeom>
          <a:noFill/>
          <a:ln w="9525" cap="flat" cmpd="sng">
            <a:solidFill>
              <a:schemeClr val="dk2"/>
            </a:solidFill>
            <a:prstDash val="solid"/>
            <a:round/>
            <a:headEnd type="none" w="sm" len="sm"/>
            <a:tailEnd type="none" w="sm" len="sm"/>
          </a:ln>
        </p:spPr>
      </p:pic>
      <p:sp>
        <p:nvSpPr>
          <p:cNvPr id="233" name="Google Shape;233;g383dbfc32e9_4_159"/>
          <p:cNvSpPr txBox="1"/>
          <p:nvPr/>
        </p:nvSpPr>
        <p:spPr>
          <a:xfrm>
            <a:off x="265200" y="3594850"/>
            <a:ext cx="4203600" cy="11544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Grafik ini menunjukkan fluktuasi penjualan Kimia Farma sepanjang 2020–2023. Penjualan terendah terjadi pada 2021, kemudian meningkat signifikan pada 2022 hingga Rp80,6 miliar, sebelum kembali turun di 2023. Hal ini mengindikasikan bahwa pemulihan pasca pandemi hanya bertahan sementara.</a:t>
            </a:r>
            <a:endParaRPr sz="900" b="0" i="0" u="none" strike="noStrike" cap="none">
              <a:solidFill>
                <a:srgbClr val="000000"/>
              </a:solidFill>
              <a:latin typeface="Rubik"/>
              <a:ea typeface="Rubik"/>
              <a:cs typeface="Rubik"/>
              <a:sym typeface="Rubik"/>
            </a:endParaRPr>
          </a:p>
        </p:txBody>
      </p:sp>
      <p:sp>
        <p:nvSpPr>
          <p:cNvPr id="234" name="Google Shape;234;g383dbfc32e9_4_159"/>
          <p:cNvSpPr txBox="1"/>
          <p:nvPr/>
        </p:nvSpPr>
        <p:spPr>
          <a:xfrm>
            <a:off x="4513888" y="3594850"/>
            <a:ext cx="4203600" cy="1362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Grafik ini menunjukkan perkembangan jumlah transaksi Kimia Farma pada periode 2020–2023. Jumlah transaksi meningkat pada tahun 2021 dan mencapai puncak di atas 170 ribu transaksi. Namun, tren menurun kembali pada tahun 2022 hingga 2023 dengan jumlah transaksi sekitar 160 ribu. Hal ini mengindikasikan bahwa lonjakan transaksi di masa pemulihan pasca pandemi tidak dapat dipertahankan dalam jangka panjang.</a:t>
            </a:r>
            <a:endParaRPr sz="900" b="0" i="0" u="none" strike="noStrike" cap="none">
              <a:solidFill>
                <a:srgbClr val="000000"/>
              </a:solidFill>
              <a:latin typeface="Rubik"/>
              <a:ea typeface="Rubik"/>
              <a:cs typeface="Rubik"/>
              <a:sym typeface="Rubik"/>
            </a:endParaRPr>
          </a:p>
        </p:txBody>
      </p:sp>
      <p:pic>
        <p:nvPicPr>
          <p:cNvPr id="235" name="Google Shape;235;g383dbfc32e9_4_159"/>
          <p:cNvPicPr preferRelativeResize="0"/>
          <p:nvPr/>
        </p:nvPicPr>
        <p:blipFill rotWithShape="1">
          <a:blip r:embed="rId5">
            <a:alphaModFix/>
          </a:blip>
          <a:srcRect t="5658" b="5649"/>
          <a:stretch/>
        </p:blipFill>
        <p:spPr>
          <a:xfrm>
            <a:off x="7317600" y="185625"/>
            <a:ext cx="1399902" cy="541300"/>
          </a:xfrm>
          <a:prstGeom prst="rect">
            <a:avLst/>
          </a:prstGeom>
          <a:noFill/>
          <a:ln>
            <a:noFill/>
          </a:ln>
        </p:spPr>
      </p:pic>
      <p:sp>
        <p:nvSpPr>
          <p:cNvPr id="236" name="Google Shape;236;g383dbfc32e9_4_159"/>
          <p:cNvSpPr txBox="1"/>
          <p:nvPr/>
        </p:nvSpPr>
        <p:spPr>
          <a:xfrm>
            <a:off x="1635000" y="3288850"/>
            <a:ext cx="1399800" cy="3387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dk1"/>
                </a:solidFill>
                <a:latin typeface="Rubik"/>
                <a:ea typeface="Rubik"/>
                <a:cs typeface="Rubik"/>
                <a:sym typeface="Rubik"/>
              </a:rPr>
              <a:t>Tren Sales by Year</a:t>
            </a:r>
            <a:endParaRPr sz="1000" b="1">
              <a:latin typeface="Rubik"/>
              <a:ea typeface="Rubik"/>
              <a:cs typeface="Rubik"/>
              <a:sym typeface="Rubik"/>
            </a:endParaRPr>
          </a:p>
        </p:txBody>
      </p:sp>
      <p:sp>
        <p:nvSpPr>
          <p:cNvPr id="237" name="Google Shape;237;g383dbfc32e9_4_159"/>
          <p:cNvSpPr txBox="1"/>
          <p:nvPr/>
        </p:nvSpPr>
        <p:spPr>
          <a:xfrm>
            <a:off x="5459400" y="3288850"/>
            <a:ext cx="1858200" cy="3387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dk1"/>
                </a:solidFill>
                <a:latin typeface="Rubik"/>
                <a:ea typeface="Rubik"/>
                <a:cs typeface="Rubik"/>
                <a:sym typeface="Rubik"/>
              </a:rPr>
              <a:t>Tren Transaction in Year</a:t>
            </a:r>
            <a:endParaRPr sz="1000" b="1">
              <a:latin typeface="Rubik"/>
              <a:ea typeface="Rubik"/>
              <a:cs typeface="Rubik"/>
              <a:sym typeface="Rubik"/>
            </a:endParaRPr>
          </a:p>
        </p:txBody>
      </p:sp>
      <p:pic>
        <p:nvPicPr>
          <p:cNvPr id="238" name="Google Shape;238;g383dbfc32e9_4_159"/>
          <p:cNvPicPr preferRelativeResize="0"/>
          <p:nvPr/>
        </p:nvPicPr>
        <p:blipFill>
          <a:blip r:embed="rId6">
            <a:alphaModFix/>
          </a:blip>
          <a:stretch>
            <a:fillRect/>
          </a:stretch>
        </p:blipFill>
        <p:spPr>
          <a:xfrm>
            <a:off x="4744275" y="1082825"/>
            <a:ext cx="3288438" cy="2247375"/>
          </a:xfrm>
          <a:prstGeom prst="rect">
            <a:avLst/>
          </a:prstGeom>
          <a:noFill/>
          <a:ln w="9525" cap="flat" cmpd="sng">
            <a:solidFill>
              <a:schemeClr val="dk2"/>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g383dbfc32e9_4_169"/>
          <p:cNvPicPr preferRelativeResize="0"/>
          <p:nvPr/>
        </p:nvPicPr>
        <p:blipFill rotWithShape="1">
          <a:blip r:embed="rId3">
            <a:alphaModFix amt="10000"/>
          </a:blip>
          <a:srcRect/>
          <a:stretch/>
        </p:blipFill>
        <p:spPr>
          <a:xfrm>
            <a:off x="0" y="0"/>
            <a:ext cx="9144001" cy="5143501"/>
          </a:xfrm>
          <a:prstGeom prst="rect">
            <a:avLst/>
          </a:prstGeom>
          <a:noFill/>
          <a:ln>
            <a:noFill/>
          </a:ln>
        </p:spPr>
      </p:pic>
      <p:sp>
        <p:nvSpPr>
          <p:cNvPr id="244" name="Google Shape;244;g383dbfc32e9_4_169"/>
          <p:cNvSpPr txBox="1"/>
          <p:nvPr/>
        </p:nvSpPr>
        <p:spPr>
          <a:xfrm>
            <a:off x="430725" y="185613"/>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700" b="1">
                <a:solidFill>
                  <a:schemeClr val="dk1"/>
                </a:solidFill>
                <a:latin typeface="Rubik"/>
                <a:ea typeface="Rubik"/>
                <a:cs typeface="Rubik"/>
                <a:sym typeface="Rubik"/>
              </a:rPr>
              <a:t>Dashboard  Performance Analytics</a:t>
            </a:r>
            <a:endParaRPr sz="3000" b="1">
              <a:latin typeface="Rubik"/>
              <a:ea typeface="Rubik"/>
              <a:cs typeface="Rubik"/>
              <a:sym typeface="Rubik"/>
            </a:endParaRPr>
          </a:p>
        </p:txBody>
      </p:sp>
      <p:pic>
        <p:nvPicPr>
          <p:cNvPr id="245" name="Google Shape;245;g383dbfc32e9_4_169"/>
          <p:cNvPicPr preferRelativeResize="0"/>
          <p:nvPr/>
        </p:nvPicPr>
        <p:blipFill>
          <a:blip r:embed="rId4">
            <a:alphaModFix/>
          </a:blip>
          <a:stretch>
            <a:fillRect/>
          </a:stretch>
        </p:blipFill>
        <p:spPr>
          <a:xfrm>
            <a:off x="1004875" y="1118700"/>
            <a:ext cx="3098011" cy="2188100"/>
          </a:xfrm>
          <a:prstGeom prst="rect">
            <a:avLst/>
          </a:prstGeom>
          <a:noFill/>
          <a:ln w="9525" cap="flat" cmpd="sng">
            <a:solidFill>
              <a:schemeClr val="dk2"/>
            </a:solidFill>
            <a:prstDash val="solid"/>
            <a:round/>
            <a:headEnd type="none" w="sm" len="sm"/>
            <a:tailEnd type="none" w="sm" len="sm"/>
          </a:ln>
        </p:spPr>
      </p:pic>
      <p:pic>
        <p:nvPicPr>
          <p:cNvPr id="246" name="Google Shape;246;g383dbfc32e9_4_169"/>
          <p:cNvPicPr preferRelativeResize="0"/>
          <p:nvPr/>
        </p:nvPicPr>
        <p:blipFill>
          <a:blip r:embed="rId5">
            <a:alphaModFix/>
          </a:blip>
          <a:stretch>
            <a:fillRect/>
          </a:stretch>
        </p:blipFill>
        <p:spPr>
          <a:xfrm>
            <a:off x="5047300" y="1147500"/>
            <a:ext cx="2888050" cy="2159300"/>
          </a:xfrm>
          <a:prstGeom prst="rect">
            <a:avLst/>
          </a:prstGeom>
          <a:noFill/>
          <a:ln w="9525" cap="flat" cmpd="sng">
            <a:solidFill>
              <a:schemeClr val="dk2"/>
            </a:solidFill>
            <a:prstDash val="solid"/>
            <a:round/>
            <a:headEnd type="none" w="sm" len="sm"/>
            <a:tailEnd type="none" w="sm" len="sm"/>
          </a:ln>
        </p:spPr>
      </p:pic>
      <p:pic>
        <p:nvPicPr>
          <p:cNvPr id="247" name="Google Shape;247;g383dbfc32e9_4_169"/>
          <p:cNvPicPr preferRelativeResize="0"/>
          <p:nvPr/>
        </p:nvPicPr>
        <p:blipFill rotWithShape="1">
          <a:blip r:embed="rId6">
            <a:alphaModFix/>
          </a:blip>
          <a:srcRect t="5658" b="5649"/>
          <a:stretch/>
        </p:blipFill>
        <p:spPr>
          <a:xfrm>
            <a:off x="7317600" y="185625"/>
            <a:ext cx="1399902" cy="541300"/>
          </a:xfrm>
          <a:prstGeom prst="rect">
            <a:avLst/>
          </a:prstGeom>
          <a:noFill/>
          <a:ln>
            <a:noFill/>
          </a:ln>
        </p:spPr>
      </p:pic>
      <p:sp>
        <p:nvSpPr>
          <p:cNvPr id="248" name="Google Shape;248;g383dbfc32e9_4_169"/>
          <p:cNvSpPr txBox="1"/>
          <p:nvPr/>
        </p:nvSpPr>
        <p:spPr>
          <a:xfrm>
            <a:off x="310288" y="3606950"/>
            <a:ext cx="4203600" cy="946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Sepuluh provinsi teratas menyumbang 70% dari total net sales, dengan Jawa Barat sebagai penyumbang terbesar (Rp94,9 miliar atau 29,5% dari total Rp321,17 miliar). Hal ini menunjukkan ketergantungan tinggi perusahaan pada wilayah Jawa Barat.</a:t>
            </a:r>
            <a:endParaRPr sz="900" b="0" i="0" u="none" strike="noStrike" cap="none">
              <a:solidFill>
                <a:srgbClr val="000000"/>
              </a:solidFill>
              <a:latin typeface="Rubik"/>
              <a:ea typeface="Rubik"/>
              <a:cs typeface="Rubik"/>
              <a:sym typeface="Rubik"/>
            </a:endParaRPr>
          </a:p>
        </p:txBody>
      </p:sp>
      <p:sp>
        <p:nvSpPr>
          <p:cNvPr id="249" name="Google Shape;249;g383dbfc32e9_4_169"/>
          <p:cNvSpPr txBox="1"/>
          <p:nvPr/>
        </p:nvSpPr>
        <p:spPr>
          <a:xfrm>
            <a:off x="4513888" y="3606950"/>
            <a:ext cx="4203600" cy="946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Distribusi profit juga menunjukkan dominasi wilayah Jawa, terutama Jawa Barat yang menyumbang Rp26,9 miliar. Sebaliknya, beberapa wilayah di luar Jawa memberikan kontribusi relatif kecil sehingga berpotensi untuk ditingkatkan melalui ekspansi.</a:t>
            </a:r>
            <a:endParaRPr sz="900" b="0" i="0" u="none" strike="noStrike" cap="none">
              <a:solidFill>
                <a:srgbClr val="000000"/>
              </a:solidFill>
              <a:latin typeface="Rubik"/>
              <a:ea typeface="Rubik"/>
              <a:cs typeface="Rubik"/>
              <a:sym typeface="Rubik"/>
            </a:endParaRPr>
          </a:p>
        </p:txBody>
      </p:sp>
      <p:sp>
        <p:nvSpPr>
          <p:cNvPr id="250" name="Google Shape;250;g383dbfc32e9_4_169"/>
          <p:cNvSpPr txBox="1"/>
          <p:nvPr/>
        </p:nvSpPr>
        <p:spPr>
          <a:xfrm>
            <a:off x="5419550" y="3306800"/>
            <a:ext cx="2142600" cy="3387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dk1"/>
                </a:solidFill>
                <a:latin typeface="Rubik"/>
                <a:ea typeface="Rubik"/>
                <a:cs typeface="Rubik"/>
                <a:sym typeface="Rubik"/>
              </a:rPr>
              <a:t>Top 10 Provinsi (Net Profit)</a:t>
            </a:r>
            <a:endParaRPr sz="1000" b="1">
              <a:latin typeface="Rubik"/>
              <a:ea typeface="Rubik"/>
              <a:cs typeface="Rubik"/>
              <a:sym typeface="Rubik"/>
            </a:endParaRPr>
          </a:p>
        </p:txBody>
      </p:sp>
      <p:sp>
        <p:nvSpPr>
          <p:cNvPr id="251" name="Google Shape;251;g383dbfc32e9_4_169"/>
          <p:cNvSpPr txBox="1"/>
          <p:nvPr/>
        </p:nvSpPr>
        <p:spPr>
          <a:xfrm>
            <a:off x="1624300" y="3306800"/>
            <a:ext cx="1858200" cy="3387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dk1"/>
                </a:solidFill>
                <a:latin typeface="Rubik"/>
                <a:ea typeface="Rubik"/>
                <a:cs typeface="Rubik"/>
                <a:sym typeface="Rubik"/>
              </a:rPr>
              <a:t>Top 10 Provinsi (Net Sales)</a:t>
            </a:r>
            <a:endParaRPr sz="1000" b="1">
              <a:latin typeface="Rubik"/>
              <a:ea typeface="Rubik"/>
              <a:cs typeface="Rubik"/>
              <a:sym typeface="Rubik"/>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g383dbfc32e9_4_179"/>
          <p:cNvPicPr preferRelativeResize="0"/>
          <p:nvPr/>
        </p:nvPicPr>
        <p:blipFill rotWithShape="1">
          <a:blip r:embed="rId3">
            <a:alphaModFix amt="10000"/>
          </a:blip>
          <a:srcRect/>
          <a:stretch/>
        </p:blipFill>
        <p:spPr>
          <a:xfrm>
            <a:off x="0" y="0"/>
            <a:ext cx="9144001" cy="5143501"/>
          </a:xfrm>
          <a:prstGeom prst="rect">
            <a:avLst/>
          </a:prstGeom>
          <a:noFill/>
          <a:ln>
            <a:noFill/>
          </a:ln>
        </p:spPr>
      </p:pic>
      <p:sp>
        <p:nvSpPr>
          <p:cNvPr id="257" name="Google Shape;257;g383dbfc32e9_4_179"/>
          <p:cNvSpPr txBox="1"/>
          <p:nvPr/>
        </p:nvSpPr>
        <p:spPr>
          <a:xfrm>
            <a:off x="390650" y="185613"/>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700" b="1">
                <a:solidFill>
                  <a:schemeClr val="dk1"/>
                </a:solidFill>
                <a:latin typeface="Rubik"/>
                <a:ea typeface="Rubik"/>
                <a:cs typeface="Rubik"/>
                <a:sym typeface="Rubik"/>
              </a:rPr>
              <a:t>Dashboard  Performance Analytics</a:t>
            </a:r>
            <a:endParaRPr sz="3000" b="1">
              <a:latin typeface="Rubik"/>
              <a:ea typeface="Rubik"/>
              <a:cs typeface="Rubik"/>
              <a:sym typeface="Rubik"/>
            </a:endParaRPr>
          </a:p>
        </p:txBody>
      </p:sp>
      <p:pic>
        <p:nvPicPr>
          <p:cNvPr id="258" name="Google Shape;258;g383dbfc32e9_4_179"/>
          <p:cNvPicPr preferRelativeResize="0"/>
          <p:nvPr/>
        </p:nvPicPr>
        <p:blipFill>
          <a:blip r:embed="rId4">
            <a:alphaModFix/>
          </a:blip>
          <a:stretch>
            <a:fillRect/>
          </a:stretch>
        </p:blipFill>
        <p:spPr>
          <a:xfrm>
            <a:off x="1208875" y="1030750"/>
            <a:ext cx="2827656" cy="2129475"/>
          </a:xfrm>
          <a:prstGeom prst="rect">
            <a:avLst/>
          </a:prstGeom>
          <a:noFill/>
          <a:ln w="9525" cap="flat" cmpd="sng">
            <a:solidFill>
              <a:schemeClr val="dk2"/>
            </a:solidFill>
            <a:prstDash val="solid"/>
            <a:round/>
            <a:headEnd type="none" w="sm" len="sm"/>
            <a:tailEnd type="none" w="sm" len="sm"/>
          </a:ln>
        </p:spPr>
      </p:pic>
      <p:pic>
        <p:nvPicPr>
          <p:cNvPr id="259" name="Google Shape;259;g383dbfc32e9_4_179"/>
          <p:cNvPicPr preferRelativeResize="0"/>
          <p:nvPr/>
        </p:nvPicPr>
        <p:blipFill>
          <a:blip r:embed="rId5">
            <a:alphaModFix/>
          </a:blip>
          <a:stretch>
            <a:fillRect/>
          </a:stretch>
        </p:blipFill>
        <p:spPr>
          <a:xfrm>
            <a:off x="4604513" y="1134949"/>
            <a:ext cx="3821276" cy="2025275"/>
          </a:xfrm>
          <a:prstGeom prst="rect">
            <a:avLst/>
          </a:prstGeom>
          <a:noFill/>
          <a:ln w="9525" cap="flat" cmpd="sng">
            <a:solidFill>
              <a:schemeClr val="dk2"/>
            </a:solidFill>
            <a:prstDash val="solid"/>
            <a:round/>
            <a:headEnd type="none" w="sm" len="sm"/>
            <a:tailEnd type="none" w="sm" len="sm"/>
          </a:ln>
        </p:spPr>
      </p:pic>
      <p:pic>
        <p:nvPicPr>
          <p:cNvPr id="260" name="Google Shape;260;g383dbfc32e9_4_179"/>
          <p:cNvPicPr preferRelativeResize="0"/>
          <p:nvPr/>
        </p:nvPicPr>
        <p:blipFill rotWithShape="1">
          <a:blip r:embed="rId6">
            <a:alphaModFix/>
          </a:blip>
          <a:srcRect t="5658" b="5649"/>
          <a:stretch/>
        </p:blipFill>
        <p:spPr>
          <a:xfrm>
            <a:off x="7317600" y="185625"/>
            <a:ext cx="1399902" cy="541300"/>
          </a:xfrm>
          <a:prstGeom prst="rect">
            <a:avLst/>
          </a:prstGeom>
          <a:noFill/>
          <a:ln>
            <a:noFill/>
          </a:ln>
        </p:spPr>
      </p:pic>
      <p:sp>
        <p:nvSpPr>
          <p:cNvPr id="261" name="Google Shape;261;g383dbfc32e9_4_179"/>
          <p:cNvSpPr txBox="1"/>
          <p:nvPr/>
        </p:nvSpPr>
        <p:spPr>
          <a:xfrm>
            <a:off x="310288" y="3652825"/>
            <a:ext cx="4203600" cy="11544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Produk kategori Psycholeptics drugs, Hypnotics and sedatives mendominasi penjualan dengan nilai lebih dari Rp56,8 miliar. Disusul produk kategori anxiolytic drugs serta beberapa obat lain yang menjadi kontributor utama. Hal ini menunjukkan bahwa lini produk psikoleptik menjadi tulang punggung revenue Kimia Farma.</a:t>
            </a:r>
            <a:endParaRPr sz="900" b="0" i="0" u="none" strike="noStrike" cap="none">
              <a:solidFill>
                <a:srgbClr val="000000"/>
              </a:solidFill>
              <a:latin typeface="Rubik"/>
              <a:ea typeface="Rubik"/>
              <a:cs typeface="Rubik"/>
              <a:sym typeface="Rubik"/>
            </a:endParaRPr>
          </a:p>
        </p:txBody>
      </p:sp>
      <p:sp>
        <p:nvSpPr>
          <p:cNvPr id="262" name="Google Shape;262;g383dbfc32e9_4_179"/>
          <p:cNvSpPr txBox="1"/>
          <p:nvPr/>
        </p:nvSpPr>
        <p:spPr>
          <a:xfrm>
            <a:off x="4513888" y="3652825"/>
            <a:ext cx="4203600" cy="11544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900">
                <a:solidFill>
                  <a:schemeClr val="dk1"/>
                </a:solidFill>
                <a:latin typeface="Rubik"/>
                <a:ea typeface="Rubik"/>
                <a:cs typeface="Rubik"/>
                <a:sym typeface="Rubik"/>
              </a:rPr>
              <a:t>Beberapa cabang seperti Ambon, Padang, dan Sibolga memiliki rating cabang yang tinggi (di atas 4,3) tetapi rating transaksi stagnan di angka 3,56. Hal ini mengindikasikan adanya perbedaan antara citra cabang dan pengalaman nyata pelanggan saat bertransaksi, sehingga perlu evaluasi layanan.</a:t>
            </a:r>
            <a:endParaRPr sz="900" b="0" i="0" u="none" strike="noStrike" cap="none">
              <a:solidFill>
                <a:srgbClr val="000000"/>
              </a:solidFill>
              <a:latin typeface="Rubik"/>
              <a:ea typeface="Rubik"/>
              <a:cs typeface="Rubik"/>
              <a:sym typeface="Rubik"/>
            </a:endParaRPr>
          </a:p>
        </p:txBody>
      </p:sp>
      <p:sp>
        <p:nvSpPr>
          <p:cNvPr id="263" name="Google Shape;263;g383dbfc32e9_4_179"/>
          <p:cNvSpPr txBox="1"/>
          <p:nvPr/>
        </p:nvSpPr>
        <p:spPr>
          <a:xfrm>
            <a:off x="5017825" y="3160225"/>
            <a:ext cx="3006600" cy="4926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dk1"/>
                </a:solidFill>
                <a:latin typeface="Rubik"/>
                <a:ea typeface="Rubik"/>
                <a:cs typeface="Rubik"/>
                <a:sym typeface="Rubik"/>
              </a:rPr>
              <a:t>Top 5 Cabang dengan Rating Cabang Tertinggi namun Rating Transaksi Terendah</a:t>
            </a:r>
            <a:endParaRPr sz="1000" b="1">
              <a:latin typeface="Rubik"/>
              <a:ea typeface="Rubik"/>
              <a:cs typeface="Rubik"/>
              <a:sym typeface="Rubik"/>
            </a:endParaRPr>
          </a:p>
        </p:txBody>
      </p:sp>
      <p:sp>
        <p:nvSpPr>
          <p:cNvPr id="264" name="Google Shape;264;g383dbfc32e9_4_179"/>
          <p:cNvSpPr txBox="1"/>
          <p:nvPr/>
        </p:nvSpPr>
        <p:spPr>
          <a:xfrm>
            <a:off x="1599975" y="3278325"/>
            <a:ext cx="2057400" cy="3387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dk1"/>
                </a:solidFill>
                <a:latin typeface="Rubik"/>
                <a:ea typeface="Rubik"/>
                <a:cs typeface="Rubik"/>
                <a:sym typeface="Rubik"/>
              </a:rPr>
              <a:t>Top 5 Product by Net Sales</a:t>
            </a:r>
            <a:endParaRPr sz="1000" b="1">
              <a:latin typeface="Rubik"/>
              <a:ea typeface="Rubik"/>
              <a:cs typeface="Rubik"/>
              <a:sym typeface="Rubik"/>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g383dbfc32e9_4_190"/>
          <p:cNvPicPr preferRelativeResize="0"/>
          <p:nvPr/>
        </p:nvPicPr>
        <p:blipFill rotWithShape="1">
          <a:blip r:embed="rId3">
            <a:alphaModFix amt="10000"/>
          </a:blip>
          <a:srcRect/>
          <a:stretch/>
        </p:blipFill>
        <p:spPr>
          <a:xfrm>
            <a:off x="0" y="0"/>
            <a:ext cx="9144001" cy="5143501"/>
          </a:xfrm>
          <a:prstGeom prst="rect">
            <a:avLst/>
          </a:prstGeom>
          <a:noFill/>
          <a:ln>
            <a:noFill/>
          </a:ln>
        </p:spPr>
      </p:pic>
      <p:sp>
        <p:nvSpPr>
          <p:cNvPr id="270" name="Google Shape;270;g383dbfc32e9_4_190"/>
          <p:cNvSpPr txBox="1"/>
          <p:nvPr/>
        </p:nvSpPr>
        <p:spPr>
          <a:xfrm>
            <a:off x="340500" y="452038"/>
            <a:ext cx="8463000" cy="600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700" b="1">
                <a:solidFill>
                  <a:schemeClr val="dk1"/>
                </a:solidFill>
                <a:latin typeface="Rubik"/>
                <a:ea typeface="Rubik"/>
                <a:cs typeface="Rubik"/>
                <a:sym typeface="Rubik"/>
              </a:rPr>
              <a:t>Dashboard  Performance Analytics</a:t>
            </a:r>
            <a:endParaRPr sz="3000" b="1">
              <a:latin typeface="Rubik"/>
              <a:ea typeface="Rubik"/>
              <a:cs typeface="Rubik"/>
              <a:sym typeface="Rubik"/>
            </a:endParaRPr>
          </a:p>
        </p:txBody>
      </p:sp>
      <p:pic>
        <p:nvPicPr>
          <p:cNvPr id="271" name="Google Shape;271;g383dbfc32e9_4_190"/>
          <p:cNvPicPr preferRelativeResize="0"/>
          <p:nvPr/>
        </p:nvPicPr>
        <p:blipFill>
          <a:blip r:embed="rId4">
            <a:alphaModFix/>
          </a:blip>
          <a:stretch>
            <a:fillRect/>
          </a:stretch>
        </p:blipFill>
        <p:spPr>
          <a:xfrm>
            <a:off x="602075" y="1302700"/>
            <a:ext cx="4031525" cy="3179075"/>
          </a:xfrm>
          <a:prstGeom prst="rect">
            <a:avLst/>
          </a:prstGeom>
          <a:noFill/>
          <a:ln>
            <a:noFill/>
          </a:ln>
        </p:spPr>
      </p:pic>
      <p:pic>
        <p:nvPicPr>
          <p:cNvPr id="272" name="Google Shape;272;g383dbfc32e9_4_190"/>
          <p:cNvPicPr preferRelativeResize="0"/>
          <p:nvPr/>
        </p:nvPicPr>
        <p:blipFill rotWithShape="1">
          <a:blip r:embed="rId5">
            <a:alphaModFix/>
          </a:blip>
          <a:srcRect t="5658" b="5649"/>
          <a:stretch/>
        </p:blipFill>
        <p:spPr>
          <a:xfrm>
            <a:off x="7317600" y="185625"/>
            <a:ext cx="1399902" cy="541300"/>
          </a:xfrm>
          <a:prstGeom prst="rect">
            <a:avLst/>
          </a:prstGeom>
          <a:noFill/>
          <a:ln>
            <a:noFill/>
          </a:ln>
        </p:spPr>
      </p:pic>
      <p:sp>
        <p:nvSpPr>
          <p:cNvPr id="273" name="Google Shape;273;g383dbfc32e9_4_190"/>
          <p:cNvSpPr txBox="1"/>
          <p:nvPr/>
        </p:nvSpPr>
        <p:spPr>
          <a:xfrm>
            <a:off x="4783413" y="2240150"/>
            <a:ext cx="4203600" cy="11160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1400"/>
              <a:buFont typeface="Arial"/>
              <a:buNone/>
            </a:pPr>
            <a:r>
              <a:rPr lang="en" sz="1100">
                <a:solidFill>
                  <a:schemeClr val="dk1"/>
                </a:solidFill>
                <a:latin typeface="Rubik"/>
                <a:ea typeface="Rubik"/>
                <a:cs typeface="Rubik"/>
                <a:sym typeface="Rubik"/>
              </a:rPr>
              <a:t>Peta distribusi profit menegaskan bahwa profit terbesar terkonsentrasi di Pulau Jawa, khususnya Jawa Barat. Wilayah Indonesia timur masih relatif rendah kontribusinya, sehingga bisa menjadi peluang ekspansi pasar.</a:t>
            </a:r>
            <a:endParaRPr sz="1100" b="0" i="0" u="none" strike="noStrike" cap="none">
              <a:solidFill>
                <a:srgbClr val="000000"/>
              </a:solidFill>
              <a:latin typeface="Rubik"/>
              <a:ea typeface="Rubik"/>
              <a:cs typeface="Rubik"/>
              <a:sym typeface="Rubik"/>
            </a:endParaRPr>
          </a:p>
        </p:txBody>
      </p:sp>
      <p:sp>
        <p:nvSpPr>
          <p:cNvPr id="274" name="Google Shape;274;g383dbfc32e9_4_190"/>
          <p:cNvSpPr txBox="1"/>
          <p:nvPr/>
        </p:nvSpPr>
        <p:spPr>
          <a:xfrm>
            <a:off x="1589138" y="4481775"/>
            <a:ext cx="2057400" cy="3693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200" b="1">
                <a:solidFill>
                  <a:schemeClr val="dk1"/>
                </a:solidFill>
                <a:latin typeface="Rubik"/>
                <a:ea typeface="Rubik"/>
                <a:cs typeface="Rubik"/>
                <a:sym typeface="Rubik"/>
              </a:rPr>
              <a:t>Geo Map (Net Profit)</a:t>
            </a:r>
            <a:endParaRPr sz="1200" b="1">
              <a:latin typeface="Rubik"/>
              <a:ea typeface="Rubik"/>
              <a:cs typeface="Rubik"/>
              <a:sym typeface="Rubik"/>
            </a:endParaRPr>
          </a:p>
        </p:txBody>
      </p:sp>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pic>
        <p:nvPicPr>
          <p:cNvPr id="287" name="Google Shape;287;g383dbfc32e9_4_253"/>
          <p:cNvPicPr preferRelativeResize="0"/>
          <p:nvPr/>
        </p:nvPicPr>
        <p:blipFill rotWithShape="1">
          <a:blip r:embed="rId3">
            <a:alphaModFix amt="10000"/>
          </a:blip>
          <a:srcRect/>
          <a:stretch/>
        </p:blipFill>
        <p:spPr>
          <a:xfrm>
            <a:off x="0" y="0"/>
            <a:ext cx="9144001" cy="5143501"/>
          </a:xfrm>
          <a:prstGeom prst="rect">
            <a:avLst/>
          </a:prstGeom>
          <a:noFill/>
          <a:ln>
            <a:noFill/>
          </a:ln>
        </p:spPr>
      </p:pic>
      <p:pic>
        <p:nvPicPr>
          <p:cNvPr id="288" name="Google Shape;288;g383dbfc32e9_4_253"/>
          <p:cNvPicPr preferRelativeResize="0"/>
          <p:nvPr/>
        </p:nvPicPr>
        <p:blipFill rotWithShape="1">
          <a:blip r:embed="rId4">
            <a:alphaModFix/>
          </a:blip>
          <a:srcRect t="5658" b="5649"/>
          <a:stretch/>
        </p:blipFill>
        <p:spPr>
          <a:xfrm>
            <a:off x="12726875" y="185625"/>
            <a:ext cx="1399902" cy="541300"/>
          </a:xfrm>
          <a:prstGeom prst="rect">
            <a:avLst/>
          </a:prstGeom>
          <a:noFill/>
          <a:ln>
            <a:noFill/>
          </a:ln>
        </p:spPr>
      </p:pic>
      <p:sp>
        <p:nvSpPr>
          <p:cNvPr id="289" name="Google Shape;289;g383dbfc32e9_4_253"/>
          <p:cNvSpPr txBox="1"/>
          <p:nvPr/>
        </p:nvSpPr>
        <p:spPr>
          <a:xfrm>
            <a:off x="287000" y="185613"/>
            <a:ext cx="8463000" cy="646500"/>
          </a:xfrm>
          <a:prstGeom prst="rect">
            <a:avLst/>
          </a:prstGeom>
          <a:noFill/>
          <a:ln>
            <a:noFill/>
          </a:ln>
          <a:effectLst>
            <a:outerShdw blurRad="57150" dist="19050" dir="2820000" algn="bl" rotWithShape="0">
              <a:srgbClr val="B7B7B7">
                <a:alpha val="85100"/>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5000"/>
              <a:buFont typeface="Arial"/>
              <a:buNone/>
            </a:pPr>
            <a:r>
              <a:rPr lang="en" sz="3000" b="1">
                <a:latin typeface="Rubik"/>
                <a:ea typeface="Rubik"/>
                <a:cs typeface="Rubik"/>
                <a:sym typeface="Rubik"/>
              </a:rPr>
              <a:t>Insights</a:t>
            </a:r>
            <a:endParaRPr sz="3000" b="1" i="0" u="none" strike="noStrike" cap="none">
              <a:solidFill>
                <a:schemeClr val="accent5"/>
              </a:solidFill>
              <a:latin typeface="Rubik"/>
              <a:ea typeface="Rubik"/>
              <a:cs typeface="Rubik"/>
              <a:sym typeface="Rubik"/>
            </a:endParaRPr>
          </a:p>
        </p:txBody>
      </p:sp>
      <p:sp>
        <p:nvSpPr>
          <p:cNvPr id="290" name="Google Shape;290;g383dbfc32e9_4_253"/>
          <p:cNvSpPr txBox="1"/>
          <p:nvPr/>
        </p:nvSpPr>
        <p:spPr>
          <a:xfrm>
            <a:off x="562950" y="747182"/>
            <a:ext cx="8018100" cy="4031843"/>
          </a:xfrm>
          <a:prstGeom prst="rect">
            <a:avLst/>
          </a:prstGeom>
          <a:noFill/>
          <a:ln>
            <a:noFill/>
          </a:ln>
        </p:spPr>
        <p:txBody>
          <a:bodyPr spcFirstLastPara="1" wrap="square" lIns="91425" tIns="91425" rIns="91425" bIns="91425" anchor="t" anchorCtr="0">
            <a:spAutoFit/>
          </a:bodyPr>
          <a:lstStyle/>
          <a:p>
            <a:pPr marL="165100" lvl="0" algn="l" rtl="0">
              <a:spcBef>
                <a:spcPts val="0"/>
              </a:spcBef>
              <a:spcAft>
                <a:spcPts val="0"/>
              </a:spcAft>
              <a:buSzPts val="1000"/>
            </a:pPr>
            <a:r>
              <a:rPr lang="en" sz="1000" b="1" dirty="0">
                <a:latin typeface="Rubik"/>
                <a:ea typeface="Rubik"/>
                <a:cs typeface="Rubik"/>
                <a:sym typeface="Rubik"/>
              </a:rPr>
              <a:t>1. Bagaimana performa keuangan Kimia Farma pada periode 2020–2023?</a:t>
            </a:r>
          </a:p>
          <a:p>
            <a:pPr marL="165100" lvl="0" algn="l" rtl="0">
              <a:spcBef>
                <a:spcPts val="0"/>
              </a:spcBef>
              <a:spcAft>
                <a:spcPts val="0"/>
              </a:spcAft>
              <a:buSzPts val="1000"/>
            </a:pPr>
            <a:r>
              <a:rPr lang="en" sz="1000" dirty="0">
                <a:latin typeface="Rubik"/>
                <a:ea typeface="Rubik"/>
                <a:cs typeface="Rubik"/>
                <a:sym typeface="Rubik"/>
              </a:rPr>
              <a:t>Total Net Sales mencapai Rp321,2 miliar dengan Net Profit sebesar Rp91,2 miliar.</a:t>
            </a:r>
            <a:endParaRPr sz="1000" dirty="0">
              <a:latin typeface="Rubik"/>
              <a:ea typeface="Rubik"/>
              <a:cs typeface="Rubik"/>
              <a:sym typeface="Rubik"/>
            </a:endParaRPr>
          </a:p>
          <a:p>
            <a:pPr marL="457200" lvl="0" indent="0" algn="l" rtl="0">
              <a:spcBef>
                <a:spcPts val="0"/>
              </a:spcBef>
              <a:spcAft>
                <a:spcPts val="0"/>
              </a:spcAft>
              <a:buNone/>
            </a:pPr>
            <a:endParaRPr sz="1000" dirty="0">
              <a:latin typeface="Rubik"/>
              <a:ea typeface="Rubik"/>
              <a:cs typeface="Rubik"/>
              <a:sym typeface="Rubik"/>
            </a:endParaRPr>
          </a:p>
          <a:p>
            <a:pPr marL="165100" lvl="0" algn="l" rtl="0">
              <a:spcBef>
                <a:spcPts val="0"/>
              </a:spcBef>
              <a:spcAft>
                <a:spcPts val="0"/>
              </a:spcAft>
              <a:buSzPts val="1000"/>
            </a:pPr>
            <a:r>
              <a:rPr lang="en" sz="1000" b="1" dirty="0">
                <a:latin typeface="Rubik"/>
                <a:ea typeface="Rubik"/>
                <a:cs typeface="Rubik"/>
                <a:sym typeface="Rubik"/>
              </a:rPr>
              <a:t>2. Bagaimana tren penjualan dari tahun ke tahun?</a:t>
            </a:r>
          </a:p>
          <a:p>
            <a:pPr marL="165100" lvl="0" algn="l" rtl="0">
              <a:spcBef>
                <a:spcPts val="0"/>
              </a:spcBef>
              <a:spcAft>
                <a:spcPts val="0"/>
              </a:spcAft>
              <a:buSzPts val="1000"/>
            </a:pPr>
            <a:r>
              <a:rPr lang="en" sz="1000" dirty="0">
                <a:latin typeface="Rubik"/>
                <a:ea typeface="Rubik"/>
                <a:cs typeface="Rubik"/>
                <a:sym typeface="Rubik"/>
              </a:rPr>
              <a:t>Penjualan sempat menurun pada 2021, mencapai puncak di 2022 (Rp80,6 miliar), lalu kembali turun di 2023 (Rp80,1 miliar).</a:t>
            </a:r>
            <a:endParaRPr sz="1000" dirty="0">
              <a:latin typeface="Rubik"/>
              <a:ea typeface="Rubik"/>
              <a:cs typeface="Rubik"/>
              <a:sym typeface="Rubik"/>
            </a:endParaRPr>
          </a:p>
          <a:p>
            <a:pPr marL="457200" lvl="0" indent="0" algn="l" rtl="0">
              <a:spcBef>
                <a:spcPts val="0"/>
              </a:spcBef>
              <a:spcAft>
                <a:spcPts val="0"/>
              </a:spcAft>
              <a:buNone/>
            </a:pPr>
            <a:endParaRPr sz="1000" dirty="0">
              <a:latin typeface="Rubik"/>
              <a:ea typeface="Rubik"/>
              <a:cs typeface="Rubik"/>
              <a:sym typeface="Rubik"/>
            </a:endParaRPr>
          </a:p>
          <a:p>
            <a:pPr marL="165100" lvl="0" algn="l" rtl="0">
              <a:spcBef>
                <a:spcPts val="0"/>
              </a:spcBef>
              <a:spcAft>
                <a:spcPts val="0"/>
              </a:spcAft>
              <a:buSzPts val="1000"/>
            </a:pPr>
            <a:r>
              <a:rPr lang="en" sz="1000" b="1" dirty="0">
                <a:latin typeface="Rubik"/>
                <a:ea typeface="Rubik"/>
                <a:cs typeface="Rubik"/>
                <a:sym typeface="Rubik"/>
              </a:rPr>
              <a:t>3. Bagaimana tren jumlah transaksi per Tahun?</a:t>
            </a:r>
          </a:p>
          <a:p>
            <a:pPr marL="165100" lvl="0" algn="l" rtl="0">
              <a:spcBef>
                <a:spcPts val="0"/>
              </a:spcBef>
              <a:spcAft>
                <a:spcPts val="0"/>
              </a:spcAft>
              <a:buSzPts val="1000"/>
            </a:pPr>
            <a:r>
              <a:rPr lang="en" sz="1000" dirty="0">
                <a:latin typeface="Rubik"/>
                <a:ea typeface="Rubik"/>
                <a:cs typeface="Rubik"/>
                <a:sym typeface="Rubik"/>
              </a:rPr>
              <a:t>Jumlah transaksi meningkat pada 2021, namun kembali menurun pada 2022 hingga 2023 dengan total sekitar 160 ribu transaksi.</a:t>
            </a:r>
            <a:endParaRPr sz="1000" dirty="0">
              <a:latin typeface="Rubik"/>
              <a:ea typeface="Rubik"/>
              <a:cs typeface="Rubik"/>
              <a:sym typeface="Rubik"/>
            </a:endParaRPr>
          </a:p>
          <a:p>
            <a:pPr marL="457200" lvl="0" indent="0" algn="l" rtl="0">
              <a:spcBef>
                <a:spcPts val="0"/>
              </a:spcBef>
              <a:spcAft>
                <a:spcPts val="0"/>
              </a:spcAft>
              <a:buNone/>
            </a:pPr>
            <a:endParaRPr sz="1000" dirty="0">
              <a:latin typeface="Rubik"/>
              <a:ea typeface="Rubik"/>
              <a:cs typeface="Rubik"/>
              <a:sym typeface="Rubik"/>
            </a:endParaRPr>
          </a:p>
          <a:p>
            <a:pPr marL="165100" lvl="0" algn="l" rtl="0">
              <a:spcBef>
                <a:spcPts val="0"/>
              </a:spcBef>
              <a:spcAft>
                <a:spcPts val="0"/>
              </a:spcAft>
              <a:buSzPts val="1000"/>
            </a:pPr>
            <a:r>
              <a:rPr lang="en" sz="1000" b="1" dirty="0">
                <a:latin typeface="Rubik"/>
                <a:ea typeface="Rubik"/>
                <a:cs typeface="Rubik"/>
                <a:sym typeface="Rubik"/>
              </a:rPr>
              <a:t>4. Produk apa yang memberikan kontribusi penjualan terbesar?</a:t>
            </a:r>
          </a:p>
          <a:p>
            <a:pPr marL="165100" lvl="0" algn="l" rtl="0">
              <a:spcBef>
                <a:spcPts val="0"/>
              </a:spcBef>
              <a:spcAft>
                <a:spcPts val="0"/>
              </a:spcAft>
              <a:buSzPts val="1000"/>
            </a:pPr>
            <a:r>
              <a:rPr lang="en" sz="1000" dirty="0">
                <a:latin typeface="Rubik"/>
                <a:ea typeface="Rubik"/>
                <a:cs typeface="Rubik"/>
                <a:sym typeface="Rubik"/>
              </a:rPr>
              <a:t>Produk kategori Psycholeptics drugs, Hypnotics &amp; sedatives menjadi yang paling laris, dengan Net Sales sekitar 56,8 miliar.</a:t>
            </a:r>
            <a:endParaRPr sz="1000" dirty="0">
              <a:latin typeface="Rubik"/>
              <a:ea typeface="Rubik"/>
              <a:cs typeface="Rubik"/>
              <a:sym typeface="Rubik"/>
            </a:endParaRPr>
          </a:p>
          <a:p>
            <a:pPr marL="457200" lvl="0" indent="0" algn="l" rtl="0">
              <a:spcBef>
                <a:spcPts val="0"/>
              </a:spcBef>
              <a:spcAft>
                <a:spcPts val="0"/>
              </a:spcAft>
              <a:buNone/>
            </a:pPr>
            <a:endParaRPr sz="1000" dirty="0">
              <a:latin typeface="Rubik"/>
              <a:ea typeface="Rubik"/>
              <a:cs typeface="Rubik"/>
              <a:sym typeface="Rubik"/>
            </a:endParaRPr>
          </a:p>
          <a:p>
            <a:pPr marL="165100" lvl="0" algn="l" rtl="0">
              <a:spcBef>
                <a:spcPts val="0"/>
              </a:spcBef>
              <a:spcAft>
                <a:spcPts val="0"/>
              </a:spcAft>
              <a:buSzPts val="1000"/>
            </a:pPr>
            <a:r>
              <a:rPr lang="en" sz="1000" b="1" dirty="0">
                <a:latin typeface="Rubik"/>
                <a:ea typeface="Rubik"/>
                <a:cs typeface="Rubik"/>
                <a:sym typeface="Rubik"/>
              </a:rPr>
              <a:t>5. Provinsi mana yang memberikan kontribusi terbesar terhadap penjualan?</a:t>
            </a:r>
          </a:p>
          <a:p>
            <a:pPr marL="165100" lvl="0" algn="l" rtl="0">
              <a:spcBef>
                <a:spcPts val="0"/>
              </a:spcBef>
              <a:spcAft>
                <a:spcPts val="0"/>
              </a:spcAft>
              <a:buSzPts val="1000"/>
            </a:pPr>
            <a:r>
              <a:rPr lang="en" sz="1000" dirty="0">
                <a:latin typeface="Rubik"/>
                <a:ea typeface="Rubik"/>
                <a:cs typeface="Rubik"/>
                <a:sym typeface="Rubik"/>
              </a:rPr>
              <a:t>Jawa Barat menyumbang Net Sales terbesar (94,9 miliar), disusul Sumatera Utara (23,9 miliar) dan Jawa Tengah (22,2 miliar).</a:t>
            </a:r>
            <a:endParaRPr sz="1000" dirty="0">
              <a:latin typeface="Rubik"/>
              <a:ea typeface="Rubik"/>
              <a:cs typeface="Rubik"/>
              <a:sym typeface="Rubik"/>
            </a:endParaRPr>
          </a:p>
          <a:p>
            <a:pPr marL="457200" lvl="0" indent="0" algn="l" rtl="0">
              <a:spcBef>
                <a:spcPts val="0"/>
              </a:spcBef>
              <a:spcAft>
                <a:spcPts val="0"/>
              </a:spcAft>
              <a:buNone/>
            </a:pPr>
            <a:endParaRPr sz="1000" dirty="0">
              <a:latin typeface="Rubik"/>
              <a:ea typeface="Rubik"/>
              <a:cs typeface="Rubik"/>
              <a:sym typeface="Rubik"/>
            </a:endParaRPr>
          </a:p>
          <a:p>
            <a:pPr marL="165100" lvl="0" algn="l" rtl="0">
              <a:spcBef>
                <a:spcPts val="0"/>
              </a:spcBef>
              <a:spcAft>
                <a:spcPts val="0"/>
              </a:spcAft>
              <a:buSzPts val="1000"/>
            </a:pPr>
            <a:r>
              <a:rPr lang="en" sz="1000" b="1" dirty="0">
                <a:latin typeface="Rubik"/>
                <a:ea typeface="Rubik"/>
                <a:cs typeface="Rubik"/>
                <a:sym typeface="Rubik"/>
              </a:rPr>
              <a:t>6. Provinsi mana yang paling menguntungkan (Net Profit)?</a:t>
            </a:r>
          </a:p>
          <a:p>
            <a:pPr marL="165100" lvl="0" algn="l" rtl="0">
              <a:spcBef>
                <a:spcPts val="0"/>
              </a:spcBef>
              <a:spcAft>
                <a:spcPts val="0"/>
              </a:spcAft>
              <a:buSzPts val="1000"/>
            </a:pPr>
            <a:r>
              <a:rPr lang="en" sz="1000" dirty="0">
                <a:latin typeface="Rubik"/>
                <a:ea typeface="Rubik"/>
                <a:cs typeface="Rubik"/>
                <a:sym typeface="Rubik"/>
              </a:rPr>
              <a:t>Jawa Barat kembali menjadi kontributor profit terbesar (26,9 miliar), menunjukkan dominasi wilayah ini dalam performa bisnis.</a:t>
            </a:r>
            <a:endParaRPr sz="1000" dirty="0">
              <a:latin typeface="Rubik"/>
              <a:ea typeface="Rubik"/>
              <a:cs typeface="Rubik"/>
              <a:sym typeface="Rubik"/>
            </a:endParaRPr>
          </a:p>
          <a:p>
            <a:pPr marL="457200" lvl="0" indent="0" algn="l" rtl="0">
              <a:spcBef>
                <a:spcPts val="0"/>
              </a:spcBef>
              <a:spcAft>
                <a:spcPts val="0"/>
              </a:spcAft>
              <a:buNone/>
            </a:pPr>
            <a:endParaRPr sz="1000" dirty="0">
              <a:latin typeface="Rubik"/>
              <a:ea typeface="Rubik"/>
              <a:cs typeface="Rubik"/>
              <a:sym typeface="Rubik"/>
            </a:endParaRPr>
          </a:p>
          <a:p>
            <a:pPr marL="165100" lvl="0" algn="l" rtl="0">
              <a:spcBef>
                <a:spcPts val="0"/>
              </a:spcBef>
              <a:spcAft>
                <a:spcPts val="0"/>
              </a:spcAft>
              <a:buSzPts val="1000"/>
            </a:pPr>
            <a:r>
              <a:rPr lang="en" sz="1000" b="1" dirty="0">
                <a:latin typeface="Rubik"/>
                <a:ea typeface="Rubik"/>
                <a:cs typeface="Rubik"/>
                <a:sym typeface="Rubik"/>
              </a:rPr>
              <a:t>7. Apakah ada perbedaan antara rating cabang dan rating transaksi?</a:t>
            </a:r>
          </a:p>
          <a:p>
            <a:pPr marL="165100" lvl="0" algn="l" rtl="0">
              <a:spcBef>
                <a:spcPts val="0"/>
              </a:spcBef>
              <a:spcAft>
                <a:spcPts val="0"/>
              </a:spcAft>
              <a:buSzPts val="1000"/>
            </a:pPr>
            <a:r>
              <a:rPr lang="en" sz="1000" dirty="0">
                <a:latin typeface="Rubik"/>
                <a:ea typeface="Rubik"/>
                <a:cs typeface="Rubik"/>
                <a:sym typeface="Rubik"/>
              </a:rPr>
              <a:t>Ya, beberapa cabang memiliki rating cabang tinggi tapi rating transaksi rendah, misalnya Ambon (4,52 vs 3,56), Padang (4,3 vs 3,56), dan Sibolga (4,45 vs 3,56). Hal ini mengindikasikan adanya gap antara persepsi kualitas cabang dan pengalaman transaksi pelanggan.</a:t>
            </a:r>
            <a:endParaRPr sz="1000" dirty="0">
              <a:latin typeface="Rubik"/>
              <a:ea typeface="Rubik"/>
              <a:cs typeface="Rubik"/>
              <a:sym typeface="Rubik"/>
            </a:endParaRPr>
          </a:p>
          <a:p>
            <a:pPr marL="457200" lvl="0" indent="0" algn="l" rtl="0">
              <a:spcBef>
                <a:spcPts val="0"/>
              </a:spcBef>
              <a:spcAft>
                <a:spcPts val="0"/>
              </a:spcAft>
              <a:buNone/>
            </a:pPr>
            <a:endParaRPr sz="1000" dirty="0">
              <a:latin typeface="Rubik"/>
              <a:ea typeface="Rubik"/>
              <a:cs typeface="Rubik"/>
              <a:sym typeface="Rubik"/>
            </a:endParaRPr>
          </a:p>
          <a:p>
            <a:pPr marL="165100" lvl="0" algn="l" rtl="0">
              <a:spcBef>
                <a:spcPts val="0"/>
              </a:spcBef>
              <a:spcAft>
                <a:spcPts val="0"/>
              </a:spcAft>
              <a:buSzPts val="1000"/>
            </a:pPr>
            <a:r>
              <a:rPr lang="en" sz="1000" b="1" dirty="0">
                <a:latin typeface="Rubik"/>
                <a:ea typeface="Rubik"/>
                <a:cs typeface="Rubik"/>
                <a:sym typeface="Rubik"/>
              </a:rPr>
              <a:t>8. Bagaimana distribusi profit di Indonesia?</a:t>
            </a:r>
          </a:p>
          <a:p>
            <a:pPr marL="165100" lvl="0" algn="l" rtl="0">
              <a:spcBef>
                <a:spcPts val="0"/>
              </a:spcBef>
              <a:spcAft>
                <a:spcPts val="0"/>
              </a:spcAft>
              <a:buSzPts val="1000"/>
            </a:pPr>
            <a:r>
              <a:rPr lang="en" sz="1000" dirty="0">
                <a:latin typeface="Rubik"/>
                <a:ea typeface="Rubik"/>
                <a:cs typeface="Rubik"/>
                <a:sym typeface="Rubik"/>
              </a:rPr>
              <a:t>Profit tersebar di seluruh Indonesia, tetapi masih sangat terkonsentrasi di Pulau Jawa, khususnya Jawa Barat.</a:t>
            </a:r>
            <a:endParaRPr sz="1000" dirty="0">
              <a:latin typeface="Rubik"/>
              <a:ea typeface="Rubik"/>
              <a:cs typeface="Rubik"/>
              <a:sym typeface="Rubik"/>
            </a:endParaRPr>
          </a:p>
        </p:txBody>
      </p:sp>
      <p:pic>
        <p:nvPicPr>
          <p:cNvPr id="291" name="Google Shape;291;g383dbfc32e9_4_253"/>
          <p:cNvPicPr preferRelativeResize="0"/>
          <p:nvPr/>
        </p:nvPicPr>
        <p:blipFill rotWithShape="1">
          <a:blip r:embed="rId4">
            <a:alphaModFix/>
          </a:blip>
          <a:srcRect t="5658" b="5649"/>
          <a:stretch/>
        </p:blipFill>
        <p:spPr>
          <a:xfrm>
            <a:off x="7317600" y="185625"/>
            <a:ext cx="1399902" cy="5413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19FAB"/>
        </a:solidFill>
        <a:effectLst/>
      </p:bgPr>
    </p:bg>
    <p:spTree>
      <p:nvGrpSpPr>
        <p:cNvPr id="1" name="Shape 295"/>
        <p:cNvGrpSpPr/>
        <p:nvPr/>
      </p:nvGrpSpPr>
      <p:grpSpPr>
        <a:xfrm>
          <a:off x="0" y="0"/>
          <a:ext cx="0" cy="0"/>
          <a:chOff x="0" y="0"/>
          <a:chExt cx="0" cy="0"/>
        </a:xfrm>
      </p:grpSpPr>
      <p:pic>
        <p:nvPicPr>
          <p:cNvPr id="296" name="Google Shape;296;p8"/>
          <p:cNvPicPr preferRelativeResize="0"/>
          <p:nvPr/>
        </p:nvPicPr>
        <p:blipFill rotWithShape="1">
          <a:blip r:embed="rId3">
            <a:alphaModFix amt="10000"/>
          </a:blip>
          <a:srcRect/>
          <a:stretch/>
        </p:blipFill>
        <p:spPr>
          <a:xfrm>
            <a:off x="-1" y="-1"/>
            <a:ext cx="9144001" cy="5143501"/>
          </a:xfrm>
          <a:prstGeom prst="rect">
            <a:avLst/>
          </a:prstGeom>
          <a:noFill/>
          <a:ln>
            <a:noFill/>
          </a:ln>
        </p:spPr>
      </p:pic>
      <p:pic>
        <p:nvPicPr>
          <p:cNvPr id="297" name="Google Shape;297;p8"/>
          <p:cNvPicPr preferRelativeResize="0"/>
          <p:nvPr/>
        </p:nvPicPr>
        <p:blipFill rotWithShape="1">
          <a:blip r:embed="rId4">
            <a:alphaModFix/>
          </a:blip>
          <a:srcRect/>
          <a:stretch/>
        </p:blipFill>
        <p:spPr>
          <a:xfrm>
            <a:off x="2895425" y="4262625"/>
            <a:ext cx="1399901" cy="541300"/>
          </a:xfrm>
          <a:prstGeom prst="rect">
            <a:avLst/>
          </a:prstGeom>
          <a:noFill/>
          <a:ln>
            <a:noFill/>
          </a:ln>
        </p:spPr>
      </p:pic>
      <p:sp>
        <p:nvSpPr>
          <p:cNvPr id="298" name="Google Shape;298;p8"/>
          <p:cNvSpPr txBox="1"/>
          <p:nvPr/>
        </p:nvSpPr>
        <p:spPr>
          <a:xfrm>
            <a:off x="2376000" y="1939850"/>
            <a:ext cx="4392000" cy="8772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500"/>
              <a:buFont typeface="Arial"/>
              <a:buNone/>
            </a:pPr>
            <a:r>
              <a:rPr lang="en" sz="4500" b="1" i="0" u="none" strike="noStrike" cap="none">
                <a:solidFill>
                  <a:schemeClr val="lt1"/>
                </a:solidFill>
                <a:latin typeface="Rubik"/>
                <a:ea typeface="Rubik"/>
                <a:cs typeface="Rubik"/>
                <a:sym typeface="Rubik"/>
              </a:rPr>
              <a:t>Thank You</a:t>
            </a:r>
            <a:endParaRPr sz="2000" b="0" i="0" u="none" strike="noStrike" cap="none">
              <a:solidFill>
                <a:schemeClr val="lt1"/>
              </a:solidFill>
              <a:latin typeface="Rubik"/>
              <a:ea typeface="Rubik"/>
              <a:cs typeface="Rubik"/>
              <a:sym typeface="Rubik"/>
            </a:endParaRPr>
          </a:p>
        </p:txBody>
      </p:sp>
      <p:sp>
        <p:nvSpPr>
          <p:cNvPr id="299" name="Google Shape;299;p8"/>
          <p:cNvSpPr txBox="1"/>
          <p:nvPr/>
        </p:nvSpPr>
        <p:spPr>
          <a:xfrm>
            <a:off x="4314750" y="4248575"/>
            <a:ext cx="4578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chemeClr val="lt1"/>
                </a:solidFill>
                <a:latin typeface="Rubik SemiBold"/>
                <a:ea typeface="Rubik SemiBold"/>
                <a:cs typeface="Rubik SemiBold"/>
                <a:sym typeface="Rubik SemiBold"/>
              </a:rPr>
              <a:t>X</a:t>
            </a:r>
            <a:endParaRPr sz="3000" b="0" i="0" u="none" strike="noStrike" cap="none">
              <a:solidFill>
                <a:schemeClr val="lt1"/>
              </a:solidFill>
              <a:latin typeface="Rubik SemiBold"/>
              <a:ea typeface="Rubik SemiBold"/>
              <a:cs typeface="Rubik SemiBold"/>
              <a:sym typeface="Rubik SemiBold"/>
            </a:endParaRPr>
          </a:p>
        </p:txBody>
      </p:sp>
      <p:pic>
        <p:nvPicPr>
          <p:cNvPr id="3" name="Google Shape;62;p1">
            <a:extLst>
              <a:ext uri="{FF2B5EF4-FFF2-40B4-BE49-F238E27FC236}">
                <a16:creationId xmlns:a16="http://schemas.microsoft.com/office/drawing/2014/main" id="{B5A9E9F8-BFC6-DF67-2723-A39F60BE7C9B}"/>
              </a:ext>
            </a:extLst>
          </p:cNvPr>
          <p:cNvPicPr preferRelativeResize="0"/>
          <p:nvPr/>
        </p:nvPicPr>
        <p:blipFill rotWithShape="1">
          <a:blip r:embed="rId5">
            <a:alphaModFix/>
          </a:blip>
          <a:srcRect/>
          <a:stretch/>
        </p:blipFill>
        <p:spPr>
          <a:xfrm>
            <a:off x="4791974" y="4198637"/>
            <a:ext cx="1468437" cy="55826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1928</Words>
  <Application>Microsoft Office PowerPoint</Application>
  <PresentationFormat>On-screen Show (16:9)</PresentationFormat>
  <Paragraphs>152</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Rubik SemiBold</vt:lpstr>
      <vt:lpstr>Roboto Mono</vt:lpstr>
      <vt:lpstr>Rubik</vt:lpstr>
      <vt:lpstr>Arial</vt:lpstr>
      <vt:lpstr>Rubik Light</vt:lpstr>
      <vt:lpstr>Rubik Medium</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Fadio Adhipradipta</cp:lastModifiedBy>
  <cp:revision>4</cp:revision>
  <dcterms:modified xsi:type="dcterms:W3CDTF">2025-09-27T12:38:24Z</dcterms:modified>
</cp:coreProperties>
</file>